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0"/>
  </p:notesMasterIdLst>
  <p:sldIdLst>
    <p:sldId id="368" r:id="rId5"/>
    <p:sldId id="369" r:id="rId6"/>
    <p:sldId id="336" r:id="rId7"/>
    <p:sldId id="370" r:id="rId8"/>
    <p:sldId id="371" r:id="rId9"/>
    <p:sldId id="392" r:id="rId10"/>
    <p:sldId id="372" r:id="rId11"/>
    <p:sldId id="397" r:id="rId12"/>
    <p:sldId id="398" r:id="rId13"/>
    <p:sldId id="373" r:id="rId14"/>
    <p:sldId id="374" r:id="rId15"/>
    <p:sldId id="376" r:id="rId16"/>
    <p:sldId id="377" r:id="rId17"/>
    <p:sldId id="378" r:id="rId18"/>
    <p:sldId id="451" r:id="rId19"/>
    <p:sldId id="379" r:id="rId20"/>
    <p:sldId id="380" r:id="rId21"/>
    <p:sldId id="399" r:id="rId22"/>
    <p:sldId id="393" r:id="rId23"/>
    <p:sldId id="382" r:id="rId24"/>
    <p:sldId id="384" r:id="rId25"/>
    <p:sldId id="385" r:id="rId26"/>
    <p:sldId id="383" r:id="rId27"/>
    <p:sldId id="386" r:id="rId28"/>
    <p:sldId id="387" r:id="rId29"/>
    <p:sldId id="388" r:id="rId30"/>
    <p:sldId id="391" r:id="rId31"/>
    <p:sldId id="394" r:id="rId32"/>
    <p:sldId id="395" r:id="rId33"/>
    <p:sldId id="400" r:id="rId34"/>
    <p:sldId id="401" r:id="rId35"/>
    <p:sldId id="402" r:id="rId36"/>
    <p:sldId id="403" r:id="rId37"/>
    <p:sldId id="404" r:id="rId38"/>
    <p:sldId id="405" r:id="rId39"/>
    <p:sldId id="406" r:id="rId40"/>
    <p:sldId id="407" r:id="rId41"/>
    <p:sldId id="408" r:id="rId42"/>
    <p:sldId id="410" r:id="rId43"/>
    <p:sldId id="411" r:id="rId44"/>
    <p:sldId id="413" r:id="rId45"/>
    <p:sldId id="412" r:id="rId46"/>
    <p:sldId id="414" r:id="rId47"/>
    <p:sldId id="415" r:id="rId48"/>
    <p:sldId id="418" r:id="rId49"/>
    <p:sldId id="416" r:id="rId50"/>
    <p:sldId id="419" r:id="rId51"/>
    <p:sldId id="420" r:id="rId52"/>
    <p:sldId id="421" r:id="rId53"/>
    <p:sldId id="422" r:id="rId54"/>
    <p:sldId id="423" r:id="rId55"/>
    <p:sldId id="424" r:id="rId56"/>
    <p:sldId id="425" r:id="rId57"/>
    <p:sldId id="426" r:id="rId58"/>
    <p:sldId id="427" r:id="rId59"/>
    <p:sldId id="428" r:id="rId60"/>
    <p:sldId id="429" r:id="rId61"/>
    <p:sldId id="433" r:id="rId62"/>
    <p:sldId id="434" r:id="rId63"/>
    <p:sldId id="435" r:id="rId64"/>
    <p:sldId id="437" r:id="rId65"/>
    <p:sldId id="436" r:id="rId66"/>
    <p:sldId id="439" r:id="rId67"/>
    <p:sldId id="440" r:id="rId68"/>
    <p:sldId id="438" r:id="rId69"/>
    <p:sldId id="452" r:id="rId70"/>
    <p:sldId id="442" r:id="rId71"/>
    <p:sldId id="443" r:id="rId72"/>
    <p:sldId id="444" r:id="rId73"/>
    <p:sldId id="445" r:id="rId74"/>
    <p:sldId id="449" r:id="rId75"/>
    <p:sldId id="450" r:id="rId76"/>
    <p:sldId id="446" r:id="rId77"/>
    <p:sldId id="447" r:id="rId78"/>
    <p:sldId id="448" r:id="rId7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D6D"/>
    <a:srgbClr val="FFDF20"/>
    <a:srgbClr val="FFED81"/>
    <a:srgbClr val="FFD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51EDC8-8557-4F0F-A97C-DB84B822AFA1}" v="1" dt="2026-03-19T14:53:17.8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Világos stílus 2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5BE263C-DBD7-4A20-BB59-AAB30ACAA65A}" styleName="Közepesen sötét stílus 3 – 2. jelölőszín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235" autoAdjust="0"/>
    <p:restoredTop sz="96247" autoAdjust="0"/>
  </p:normalViewPr>
  <p:slideViewPr>
    <p:cSldViewPr snapToGrid="0">
      <p:cViewPr varScale="1">
        <p:scale>
          <a:sx n="83" d="100"/>
          <a:sy n="83" d="100"/>
        </p:scale>
        <p:origin x="21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tableStyles" Target="tableStyle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notesMaster" Target="notesMasters/notesMaster1.xml"/><Relationship Id="rId85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61" Type="http://schemas.openxmlformats.org/officeDocument/2006/relationships/slide" Target="slides/slide57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midt Péter Zsolt" userId="6196fb7c-f565-4813-880f-107e95fe6268" providerId="ADAL" clId="{BD8BDE6B-F0CF-45DD-921B-78B2B6055BA7}"/>
    <pc:docChg chg="undo redo custSel modSld">
      <pc:chgData name="Schmidt Péter Zsolt" userId="6196fb7c-f565-4813-880f-107e95fe6268" providerId="ADAL" clId="{BD8BDE6B-F0CF-45DD-921B-78B2B6055BA7}" dt="2026-03-19T14:56:44.877" v="209"/>
      <pc:docMkLst>
        <pc:docMk/>
      </pc:docMkLst>
      <pc:sldChg chg="modTransition">
        <pc:chgData name="Schmidt Péter Zsolt" userId="6196fb7c-f565-4813-880f-107e95fe6268" providerId="ADAL" clId="{BD8BDE6B-F0CF-45DD-921B-78B2B6055BA7}" dt="2026-03-19T14:56:44.877" v="209"/>
        <pc:sldMkLst>
          <pc:docMk/>
          <pc:sldMk cId="3619371629" sldId="310"/>
        </pc:sldMkLst>
      </pc:sldChg>
      <pc:sldChg chg="addSp delSp modSp mod modTransition">
        <pc:chgData name="Schmidt Péter Zsolt" userId="6196fb7c-f565-4813-880f-107e95fe6268" providerId="ADAL" clId="{BD8BDE6B-F0CF-45DD-921B-78B2B6055BA7}" dt="2026-03-19T14:56:35.524" v="208"/>
        <pc:sldMkLst>
          <pc:docMk/>
          <pc:sldMk cId="1331656828" sldId="339"/>
        </pc:sldMkLst>
        <pc:spChg chg="mod">
          <ac:chgData name="Schmidt Péter Zsolt" userId="6196fb7c-f565-4813-880f-107e95fe6268" providerId="ADAL" clId="{BD8BDE6B-F0CF-45DD-921B-78B2B6055BA7}" dt="2026-03-19T14:55:11.959" v="205" actId="20577"/>
          <ac:spMkLst>
            <pc:docMk/>
            <pc:sldMk cId="1331656828" sldId="339"/>
            <ac:spMk id="3" creationId="{039A48AE-7536-326E-6378-72593FAC43C8}"/>
          </ac:spMkLst>
        </pc:spChg>
        <pc:picChg chg="add mod">
          <ac:chgData name="Schmidt Péter Zsolt" userId="6196fb7c-f565-4813-880f-107e95fe6268" providerId="ADAL" clId="{BD8BDE6B-F0CF-45DD-921B-78B2B6055BA7}" dt="2026-03-19T14:56:35.524" v="208"/>
          <ac:picMkLst>
            <pc:docMk/>
            <pc:sldMk cId="1331656828" sldId="339"/>
            <ac:picMk id="2" creationId="{80092ECE-81B5-3053-691C-2EF30AFD8FAB}"/>
          </ac:picMkLst>
        </pc:picChg>
        <pc:picChg chg="del">
          <ac:chgData name="Schmidt Péter Zsolt" userId="6196fb7c-f565-4813-880f-107e95fe6268" providerId="ADAL" clId="{BD8BDE6B-F0CF-45DD-921B-78B2B6055BA7}" dt="2026-03-19T14:56:29.524" v="207" actId="478"/>
          <ac:picMkLst>
            <pc:docMk/>
            <pc:sldMk cId="1331656828" sldId="339"/>
            <ac:picMk id="2054" creationId="{48A42945-4D62-8766-03FB-1D53F4FFBF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97B57D-3BA7-42B8-8174-5046FBC5E208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BFB2BB-653A-42EC-A821-BBCAB63218C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2847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562A7-89F6-07EA-29AD-D6AF3AB84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AB5AA987-AAB4-23BC-5B09-34AE99A65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DC58151-E063-B483-116D-3AD1E918A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DA17A33-8600-21E6-9B2E-43B9620E5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8459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BFA56-259F-1707-20CF-8B8CD017C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67E36FDB-97F3-9948-3188-56BE20F5C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413BA086-449E-3266-E998-727201E3E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5614CDB-9F4C-6DF2-713E-EF544B36F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7404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9FAC0-BCC5-92FF-C3BC-CB37A638B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1DB2862-F69D-9140-5960-2E11AE8C5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3568B14-18F0-E210-DAF6-B8B0606BC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85D36EF-2219-05D1-0368-0AAD73898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1787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29635-AFFB-2B35-6D81-2790BF3CF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9E7A698-CCF0-AA3C-B747-5D1987563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4E8A0B3A-13FC-FB1F-57E6-42751F4C1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625678D-A9A4-9986-24AD-D0EB36574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05788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2EEF-ACAC-D0D6-7278-9E61E635F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7C34DB9-0102-1C05-63D0-3959972C7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D2345DD-DF16-609A-47DD-5BA4CFDD1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6777B9B-7A65-B889-C74B-DB06D0EC6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46063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F615-AC65-FA05-299A-ECE4AF421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8848121-ED83-4833-9F24-8A4571586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0820271-883D-366A-062D-086247B1D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CD3C3A4-D911-E2B5-1459-9BCB2AF7E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7397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F76C5-2A7D-9A6F-27D9-3E1C31DD5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DE329936-5859-710D-F482-6A5FD1176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93E8A07-6645-07DF-431F-D8425D042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787197C-DC40-20C5-3913-FA08E52319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78939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B7ADC-91BD-F62E-79D6-AFDBF77C0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7FF8649B-AE32-838A-748B-25EDB5E98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5A2AC1F-859B-CA81-3F8A-7FC9E0630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5AEC309-BBD0-E517-C931-F6ABF91EC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77479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ADFE5-1F0E-186C-81ED-D61A96E6A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FF3F9E5E-75F4-6586-5BEE-33285A976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660CB04-F5CE-C967-B138-92B90A23E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A781761-1B76-BF3F-6655-8632960C8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8811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B4E1-A6C0-F651-CB1F-B3F38A5EA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9B2B1DEE-11FB-EE2E-74A5-21402AC08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EAE3BCB7-5A17-5B9E-622F-5B4B821C6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29C3C1D-36E3-7842-1CB5-77DAF7F3B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1681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6C08B-02DA-A168-8212-FFE81130A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9620488-7FE3-4736-0F47-DB8351910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12E43860-4EAA-309A-4964-2A6E6789C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A8D8426-24D3-5120-69A1-0CA223ADC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3453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BDBBF-CF58-D20E-414D-ACD361840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E8954FD-45B2-7702-4578-0A5DA4B32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5996A3B6-156A-9D32-DCCA-E72A498C6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60F0B56-94DB-0414-4CE9-FEF1E626A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71757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2DF78-738E-E01E-28EF-8EAA43FAE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A9B2F7D7-0A2D-51C4-238D-2B378554F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CD555CED-3AD6-1AC8-6006-9715957C3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57BFC0A-7A04-9495-AAE1-29C3C1A9B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77112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8FDBC-A2E5-6A23-2BD1-E22928E02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5AD648EB-3F8E-3E38-C352-99E1DDCA9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24A573C-9AB6-09F3-125D-8127C83D5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4EF9E1F-BF97-7391-8FE7-E68D4A338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40763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010AD-3EEF-0C40-39EE-1A4FD9E3E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EF063B0A-456C-51CE-AF0A-27B6BFEFD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5B0FA45-E24F-7CFD-F938-A9EE5A5FF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739D0B2-DEF4-E3B4-ED11-D9D1880BD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53203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4A763-BC5E-745D-0FFD-3CAD11DC0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74CEB8E5-F549-4BCB-9801-D8A85918E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1EA004E0-A8CA-210E-4606-CF78A5C89D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B7A96A1-B584-78CE-96E1-42CC2A35A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60475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3DD2E-6823-0426-5AAC-B5CA98BA6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E5FAB9BF-28D5-1C3B-CC95-CCF3E82BE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EF6FE4C-BDD8-253F-3858-C68666DD5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493AF32-415A-AF37-83D8-A353C1A69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601562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2A074-E272-5F89-A698-34B27DBA8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D7243EEE-338A-369E-1EFE-CE62AAEA4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5550196E-3177-964A-1665-DA721DE1A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1923EFC-E1C2-B109-9DEB-23F3F0F30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03173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59B26-06A1-48C4-D210-C928BF6DE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E91135C1-0588-6155-55AD-0F54D80C7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A68AA4A-998F-E150-7F64-C2DC8A425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39272DF-447B-3F3D-B497-8FE7011C64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19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80230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B1C34-AFAC-9E37-06E7-97A08CCAE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77B28A7-087B-7B51-95D3-1260CC5CF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AA3CD32C-02F6-04A7-1940-93968825E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B16A20F-C437-E657-3585-72670D61C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63148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838F3-D173-33D4-4D3E-6235F310D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331391D1-ACF5-87E0-AC78-28892A73F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A547D5DF-0C01-9869-7C1E-42F6E0B61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5691EF4-41EB-461C-345F-FE0049906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760698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0AE35-1EAA-B2C3-2008-121397753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FBAD2100-F787-28F5-FC86-CB755A25F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CB8EC624-44AC-ECE4-BDB5-88A40C601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3524A38-A611-138D-1428-AB584BDB7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07153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6DDD3-9FD4-B2EF-A64E-550BCA2CD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96A1029C-F5F1-D73E-6484-A74004F10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C01635E7-FEA1-2890-CBBB-6C2DB4197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A5E3800-5E1B-98B2-DED0-D89A0CE97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870362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E11AE-FAA4-133D-32EC-2E18A25D3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AE068154-2C65-12B3-38BD-ABFF42549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DAC4D8C5-3AA2-57A1-150A-B3BE16820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AF79EC8-2771-AD17-AE79-845AAA4C4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94030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9F0C-B114-9F59-CDBC-2CB2BDE64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FC5C99F8-92F3-359D-0C2A-D0492C38C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B049086D-7EFD-BA5A-0103-62AFFF3E8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5344A22-61CE-F615-AA0C-AD8924A70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38309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A72A4-9A80-EF3F-2DB4-75312DF9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3FAF993B-34B0-4B4E-BB2D-CABFF38AD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B4C08888-E8D8-B970-0395-9DB7902D9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6658E68-6845-930E-B433-8A1304012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090873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63F94-4024-77BD-A656-1817D109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8264F0C0-6478-2366-4975-3F9F4632D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D875899-3414-A3FD-9F36-03FD804E1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53E8F76-82AE-3FFE-5E2E-8FEF065BC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56946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9A44D-1A1B-C477-110B-83D412C28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A4C4C92-E186-60F7-3201-A2D1ADC70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DC6757A-1802-622D-08B0-F84676598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013A258-1209-6811-326E-D38AE24CF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689767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559E5-1E20-E4AD-F256-C1C215C0C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37DE3ACF-95CA-6C38-70C5-2DDD73F19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CFF07FB6-00D9-2808-87B4-361B16293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E7E651D-3BFB-9D30-DD86-C1DD55703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29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801176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FCFDF-C182-72F7-AAFA-2D9A8E46A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7253BBF6-D11C-3279-3B85-A9E156804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2F8F42A-5485-19C4-5604-72792A24A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AFDD9F4-F00E-99C3-0F80-20762C2FF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30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108751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69D97-C44D-A677-6C69-B14134FE6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69D2A3A0-7986-2199-12B7-C59E56D3D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06E6D6F-F74F-A699-0FBA-8642D64BA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AB8975B-5373-1F88-3240-7A53F528B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31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5922530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16D92-00BD-863C-1179-93BACE1A0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97C5BF61-08A9-44AE-A0CB-EF1C04B98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40ED7C5C-410E-568A-961C-7AD364AD6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65FC963-4065-8DC0-2965-5DF576255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32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08035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74268-6D1E-7471-6BB7-477DCB73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1354613-34D3-7C64-FE3F-D475B622C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E67D509B-E5B8-B8EA-5D1A-E4A6D0DDB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7B32719-FE55-6F19-D37A-A48CBD6F6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33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1354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6881C-C907-78A2-920A-5988D5A8B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C9F9848-1300-5F0B-5120-B357DBADB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0DEEA780-0983-CDB1-2AD8-B70D91520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24AC0E5-9901-6140-9049-4F5673067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34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443874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C1706-ECD4-3C82-826F-94EC0A239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6086D3D-BBDB-A911-28FE-02A2FF4E6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A042B23F-404E-5106-84E5-6FF2ED609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78A3CB2-EC27-729E-354A-5AD451954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35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01428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9F0A2-007C-2A85-608D-6272F0672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2E6E0F9E-AAB0-C4C4-9851-70DDDD3DB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DFCF71C-7EDD-CD43-E43C-86AC88C2E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452F5FA-4A10-049C-A27A-1892F50E9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36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672432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0ECA0-64BB-F3FA-5323-C4F08BCB6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326661A-5B11-AF12-EDC2-25D45B1F3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99EA3F67-D122-B308-4F51-0C41E4E59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F283732-6C04-9D47-4936-F0EBFE0C4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37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18939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C202A-A8E2-A5C1-2410-C76098CA5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20E75A8C-3A42-D015-B6C4-13234F7C7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E04CA0A-638D-DCE5-9FA6-3FB7821C1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424F4C6-8C81-E9EB-BDBE-D12AFD7BE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38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4198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48339-2362-7F91-33E2-7C89E32EB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2888F37A-1683-01D2-B764-855B99339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DB51335-CC74-0555-DA20-817BD9BF4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97DB20B-F5AB-4ABD-CA67-141AA4F29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39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3998196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8BED6-5135-28B7-AA4B-BEB6346AC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ED08B5E0-F07B-E96D-8970-3C956E857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6875F01-8D7C-36FF-505B-D027DB37D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585F011-5617-DF93-7EFB-F823090AB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40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454413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44117-36DD-AED3-2467-CF9A4E5BF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E3ED194F-27B7-B0CF-D308-FA2E15249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2F175FCE-3958-E3DF-A826-91996B394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43E3C9E-D7B0-99AE-41A5-4BE134C3B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41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84329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74570-0E52-9E45-B810-7EEFD704E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954C3427-D41B-9588-C730-5D5756DAF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F35F291A-053B-618C-32B1-5D5678494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321E105-8B62-B6C6-5D26-2F654C7E8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42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266591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241DA-2133-A702-6838-F3B823B9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54A6EC70-BD7B-C3CE-9685-80303B323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C7FD30C-9A4D-69D3-79EB-9EED21E3B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8A343C8-8C79-4F7F-4854-7ED642BC7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43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133417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10CDA-FA40-25BD-288D-8D6931095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35FF889-A20E-9F1F-D493-B035607F4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D56DC383-BA24-27FA-BB83-D9E2A7185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B77E1E0-2281-F860-F1D6-F01DBBA43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44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381778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CE75-E15B-DAAD-4FF4-EA9241A87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A4DFFE4-6EDB-782A-3997-95F7BE84E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4D2147DE-D100-274B-47D8-28499BD88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8BE5409-42AF-3B77-19E9-142A54256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45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48814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71FDB-DD59-1EE8-87E4-782647825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8D7F6D65-7A5F-2545-381C-75AA9646E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ACC7B7C-F13E-9717-C0EC-173B66627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CBF6D3D-5D91-A39D-9DA1-B7B0256D3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46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108487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DA20E-B7E5-DD84-EA3D-573841061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F53F133-AE96-F9F4-F0C6-E0C41EACD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A56D15C0-0F96-A1DD-80E2-80C65B70F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AF36B59-C2D3-0090-21EF-A9ECC76D45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47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037410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09002-0A59-8E28-B3FF-81D31F8E0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9A9189E0-0688-E977-9076-9DBECF28E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8EEA9B3-57D8-99BF-A27E-C8F63DFC1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33FBCF2-B9E5-3553-A16A-9A67E092A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48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36838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F63CB-7064-1218-9B42-4A8163C00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EC349B3-5D12-62A6-BB2D-86CD77D85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3640A3F-4A2B-FA7D-88AC-296EA155D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1E646FC-847B-2ED9-5550-BDAE37402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49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20430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A8D57-4220-DB60-129C-6A53F112C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80527613-F03A-D47A-8DD5-60D25A161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2263CA6B-2761-BF29-AF55-BBFAA61A3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43F4159-6B13-733B-9AF2-56B5BE4BB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50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553388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BDCDB-F267-E9E2-EC7D-9E019602B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99DFD978-EAFA-F83A-BD6A-FAFDB4AAB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2048456-E600-5C97-8A03-FFB88972E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0D7A019-5EB5-0ADC-7016-EF57EE6AC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51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889961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F9154-C9CD-EACD-D2F2-3708F68A3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AE66E050-63FF-B010-9244-768CCEC45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1D424001-7333-F65F-8BD6-BECBCC379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299A832-52B4-AB73-57E2-1D3749410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52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0874565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6D429-94DE-63D5-1D6F-DF69FF00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03DC83C-DB02-6BD8-0293-0D358082D1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3FBFA81-84A9-B13A-7F87-ED4A6BD36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5D6FAE9-295C-FFEB-ECD1-37634378D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53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677462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7B3BF-3361-06D0-67D0-896418B2F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2E085B1F-71C4-09A1-9E31-81B266361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DAACAC63-4979-DD02-45A1-0EEDC7524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E4CF786-11B4-9EBD-C180-FE4D47B5E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54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5057702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30898-0508-3C87-337D-AD3DC604B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D45EE7E5-E179-1D88-2CBB-367591FD1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116C1CB3-F76A-850E-CB0D-536DF03E4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F956FF8-5DB6-6531-E7FF-1D4DF76FC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55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625757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9F712-8613-F84B-81CC-BBCF41945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7AEDC27C-FE73-AA55-49DA-05D7C33DC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AD6B9F94-AD46-2C8C-9B68-7C020E2F4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6BFCA29-6E57-0F4D-6757-E8E1A126B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56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364450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934CC-C21C-5BF3-FB31-5A274DAD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886E3F5C-8F05-3F48-695A-3E2AA5FFA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4D91F9A4-741C-F4D1-A5D2-0F362C3CE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27F6E9C-DAE0-185F-1B21-06ED44AE0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57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9115866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4BB8A-250C-4ABD-0A3A-D5A9F0657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07AD43E6-F4C3-234F-4B48-C5A400C4B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D351A3BC-496D-75C6-618D-135A6CBB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AC4C189-BCF3-56CC-47FC-97077BAF2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58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602417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129D9-C561-80DD-B996-8EEC470BE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37C94401-6FC0-ADDE-2E7D-991DA0C6C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B4CC3EE9-2DC9-5A43-BC48-BAD1C32D9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EF6A880-3473-456B-DAD0-75125BB8E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59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6930788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1088-B2F4-A39F-1CC4-01F4207C9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F95C5769-F144-FDF1-EA72-6ABB29927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BAED889C-9DD0-9D2F-F29D-0AAD303E0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0020BA3-AF00-3BC6-4127-02DA0E3E0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60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2279791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A14F9-B3C7-778F-59C8-1F10EC160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277FA1AD-D258-1B0E-360A-59078975C4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03B8CCA9-7755-3228-B34A-B4E68041C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56F15F7-FFC7-A051-5E3B-1298618AC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61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241631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9470C-2D79-0CD8-F6ED-2DA20FB65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049D5879-BB32-3214-7AE7-7F148DF49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5A65471A-B8BA-8047-8C39-F0E270D66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23DEC2D-F962-B2C0-AEEF-01C3D7AD97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62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296732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1B6A6-8ED5-BB75-ED6D-88AA958FC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84A507D-D9FB-7CFC-F769-7817666439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120E8803-3089-76F5-235B-8C4DEBCE9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10D7722-CBC3-B819-641C-5C771C132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63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7891703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E89D7-49F6-7EE5-1D3A-5576D9621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653C0D7B-E37D-7D98-A905-850BB4D7D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F9B52BC8-FA0B-ED94-B82F-AF3ABFE24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36D5A43-233E-A1EC-AF1F-741A86E6B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64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427903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65C48-8693-7884-DB64-F62A6338A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6A45047E-F75F-370E-0A9F-83DCE9CEB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9A440204-7652-D32F-F288-970D5A2A8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D2980C8-4FEB-200B-438B-F06E7F6FF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65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7399277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E715F-2542-559D-E30A-F8C3E73DA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78F709DA-E818-2330-E31E-F41C8752F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E8532992-550B-B82E-D66B-4F8889B3A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4C60215-1EEA-F498-3173-3527BC7EE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66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726799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55B51-F5B9-76AC-FC51-225F2D301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8CEA2DE7-1F5E-E7AF-4B85-92C1EE05B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5724B5BE-91BE-C14B-A6EA-5CE407B85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0FFD712-07B6-5660-D4BB-4ACAF6502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67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1289393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0893D-3650-2DA3-2E24-AD1757FEC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784D98F7-9234-74F6-6990-53985E1C0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212B6215-3768-35A5-EA40-019481160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90D4C96-B9FA-CC57-789A-941AD155E4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68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678691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D932E-E962-CC32-9009-0DCDF70D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2E2A9E21-6537-F5DC-AAAC-F01CBA223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65DA692-43BA-4E98-91FC-6E408DE56F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06A62B9E-43CE-EC9F-9351-19F032BB6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69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2308206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7954E-59D4-13F9-84AA-4D98E57A9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3D0AB857-AB61-3EF5-F497-B23CF6AFB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18A03A0C-F922-0E9A-4250-ACED34758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681CA50-043D-7D0A-81F0-2DBF04500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70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8942631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9AD89-33E6-A858-2714-5E53E557B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F149A685-7559-600E-1DBA-D444F1193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D0F295FA-B549-18F9-9A5B-13C6F7652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AD97028-DAD5-B54D-2AA0-F19C2C455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71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3407201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E4F52-6643-BCD9-83A6-A11B4BA64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CE21F777-5CC9-2A6A-5B36-00020B7FE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45DD6EF8-BF58-F56A-4AFD-1CA6C19AB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DB99083-690F-9E0D-A3D5-958AEB5DF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72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803467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1A4D2-B779-A789-9C37-CC55C2D2B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1B209F6-17BF-7CCD-01C1-011A52D121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F48A5D23-0BD4-A548-0FC7-474FD0930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C9B5036-CA83-5FF9-293A-520F9B642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73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420754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881C7-5AAC-8A7B-E257-05FD5210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AF1EC3EA-8A6A-5EEB-A5D1-1BBDBBE32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2A9B2AB4-5EC0-7230-FB63-438937F62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CC0F451-325C-40A7-81FB-9EB05789B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74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903144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53131-1719-16F7-9AF5-04C48EB78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AB89074D-5BEF-03C7-00F4-89BBC1296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CBCA0AB9-6DC7-B3FF-2A65-D8C640C94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3A0445B-4088-2C17-EA4B-100C55E12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FB2BB-653A-42EC-A821-BBCAB63218CB}" type="slidenum">
              <a:rPr lang="hu-HU" smtClean="0"/>
              <a:t>75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68575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24A936-DE13-9AE8-E9F4-3C014A2F9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6B9F291-DE06-5975-CAB3-ECCD1C018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5DAAD77-4369-50A3-26B9-276B33B1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1A7EEE8-9CF8-E030-13C5-9D0C9E6F8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E1B987E-A54B-540D-25FF-F6391DC22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5825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DC84D7-A3DF-EF3D-BC96-4F2386D58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2E2FD4A-0B13-784C-C6EA-D4EA9F00F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598CD98-672E-0BAA-937A-45E59FA0E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4820CC0-E50B-6E62-2230-086E6D9A3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E1B600C-47C0-ED0A-9150-EED76593A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0238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515C03-8439-11E7-A374-EBCF5408B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561F7C2-551F-8A47-FA58-E7DC732C9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5809E8F-A090-2689-E11E-0BBBB8911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0B30472-13BE-CB4E-6ED2-BDFDECA8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4EE62EA-5831-FB4E-CAFF-6D6CDC25E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755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FB580B-3C18-318D-2883-D916D66AB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9BBEE66-10F2-F759-1234-53A024C3D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7408243-E474-ABC0-687C-C4FF68164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F403557-A295-0A39-B76A-EDFCA209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C0BB515-E81B-F1ED-EAAA-5CC4268D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A340E68-A416-486D-47D3-C5C9E65BC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294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45F59C-4406-9930-24FB-F18FE73D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BDF2251-9309-642A-FC58-0926D4D6F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75BD146-9A32-E74D-AF82-E2B1BB1F2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E514B69-1177-69EC-386A-D98078040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E343FF4-D252-245C-CACE-038AB1216B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A683A8D1-A96D-E262-6594-0EB52E52B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3BB207B8-8625-348A-92A5-AAB4B38B0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AD3D8520-4EEE-56A8-9981-21EBD985F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17421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DB12B1-2538-1635-3175-C10F31881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76F88C1-1A80-6661-9960-31FE7D585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86C6462-DF74-CB71-A8D1-0F7836E5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07EBC2E-FBDF-805B-519C-D1C195F8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2270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69940705-F7CF-EC43-B1FC-CCF141CBF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E089938-F86E-397F-4D4F-A254FF876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D473F81-5836-CD63-4EE0-3B2BA2310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12426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24FDDE-7BF6-A095-1F15-ACF2B5C64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F4E022C-673E-ED16-930E-CBD31DEB8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0C32557-E41E-AA7E-C284-1DC8FA12A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D08C8CA-08D7-F91C-7221-D33D43BB3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D4E7939-9711-5C3A-19A0-8033632C1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BDB1425-494E-4399-6104-36CDE6CD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049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9D56C97-BFC2-47AC-6819-56B6CBE31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5CD7F39-5B56-1138-D8BD-FBE841224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7959D52-2D71-17C8-0B3B-7B84240DA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CDCA088-8482-A657-3390-D79D6046B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2DFC83A-9E5C-AA32-941C-CD68F2EF2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4594F03-0002-AE9F-6F3E-806EBB51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3572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877B9B-A0CC-2959-F281-7CDF72CE3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921DBF1-E17E-E6D1-3542-8A765B9A7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642606F-2D1D-3E15-CF85-2F24C7E31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AD3C1DB-3B5B-9973-B512-01EB2174E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95A5577-5FC6-6CE2-D382-F3EC1169C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1712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EBE5938B-9ED2-9534-BF9F-DB73940150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776E1A43-1FCF-9481-D3B8-19EDACC95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3299DD8-3BC5-B95A-7BA6-7FD08F1FF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D742F-F17A-4032-A023-5C7FE466041E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6A7A199-296E-85E6-9982-200C5EA6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A664F8B-B0F4-46D0-50F1-9EAE5C6AE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174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82D29A43-DDFE-D63E-7B1A-C38290BDA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5E90358-28F2-8CBD-C250-34AC6D6E8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BAFA38E-E916-DB71-437E-669A2046A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5D742F-F17A-4032-A023-5C7FE466041E}" type="datetimeFigureOut">
              <a:rPr lang="hu-HU" smtClean="0"/>
              <a:t>2026. 04. 23.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DB7AEF3-2364-8BD5-F605-4285AE89D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E067EF5-16FA-ECF1-960D-E07FD5902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1F966B-220A-4640-90F4-84E43B0A85E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7002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xpressjs.com/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odejs.org/api/errors.html#common-system-errors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32D6E-4200-A5B0-9440-53A56C105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képernyőkép, tér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717D0D7-2C07-9D36-8E97-57E4CAD101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98"/>
          <a:stretch>
            <a:fillRect/>
          </a:stretch>
        </p:blipFill>
        <p:spPr>
          <a:xfrm>
            <a:off x="202211" y="13132"/>
            <a:ext cx="11787577" cy="6844868"/>
          </a:xfrm>
          <a:prstGeom prst="rect">
            <a:avLst/>
          </a:prstGeom>
        </p:spPr>
      </p:pic>
      <p:pic>
        <p:nvPicPr>
          <p:cNvPr id="2" name="Kép 1" descr="A képen szöveg, Betűtípus, szimbólum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1770857-9452-B18D-92F1-4A6AEBEF9E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332" y="5708699"/>
            <a:ext cx="1066949" cy="876422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53F26D4D-8FAE-23E7-C684-6775B28369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1506" y="1907691"/>
            <a:ext cx="6706536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343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F3724F-01C6-8ADC-8F4B-1243C65CA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 descr="A képen szöveg, képernyőkép, tér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1EC81B1-22DD-6777-84A1-7A2395858F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98"/>
          <a:stretch>
            <a:fillRect/>
          </a:stretch>
        </p:blipFill>
        <p:spPr>
          <a:xfrm>
            <a:off x="202211" y="13132"/>
            <a:ext cx="11787577" cy="6844868"/>
          </a:xfrm>
          <a:prstGeom prst="rect">
            <a:avLst/>
          </a:prstGeom>
        </p:spPr>
      </p:pic>
      <p:pic>
        <p:nvPicPr>
          <p:cNvPr id="2" name="Kép 1" descr="A képen szöveg, Betűtípus, szimbólum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68B1223E-2418-F48B-2F74-D9A56F267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332" y="5708699"/>
            <a:ext cx="1066949" cy="876422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CFD17C2-9F3F-8429-C214-70D1BD4FBB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92" y="13132"/>
            <a:ext cx="12003652" cy="6837308"/>
          </a:xfrm>
          <a:prstGeom prst="rect">
            <a:avLst/>
          </a:prstGeom>
        </p:spPr>
      </p:pic>
      <p:sp>
        <p:nvSpPr>
          <p:cNvPr id="6" name="Téglalap: lekerekített 5">
            <a:hlinkClick r:id="rId6"/>
            <a:extLst>
              <a:ext uri="{FF2B5EF4-FFF2-40B4-BE49-F238E27FC236}">
                <a16:creationId xmlns:a16="http://schemas.microsoft.com/office/drawing/2014/main" id="{DFCE4E58-AEDB-5A24-1D20-5A7FC255F811}"/>
              </a:ext>
            </a:extLst>
          </p:cNvPr>
          <p:cNvSpPr/>
          <p:nvPr/>
        </p:nvSpPr>
        <p:spPr>
          <a:xfrm>
            <a:off x="4981575" y="4867275"/>
            <a:ext cx="5324475" cy="1104900"/>
          </a:xfrm>
          <a:prstGeom prst="roundRect">
            <a:avLst>
              <a:gd name="adj" fmla="val 46839"/>
            </a:avLst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3600">
                <a:solidFill>
                  <a:srgbClr val="00B0F0"/>
                </a:solidFill>
                <a:latin typeface="Arial Rounded MT Bold" panose="020F0704030504030204" pitchFamily="34" charset="0"/>
              </a:rPr>
              <a:t>https://expressjs.com</a:t>
            </a:r>
          </a:p>
        </p:txBody>
      </p:sp>
    </p:spTree>
    <p:extLst>
      <p:ext uri="{BB962C8B-B14F-4D97-AF65-F5344CB8AC3E}">
        <p14:creationId xmlns:p14="http://schemas.microsoft.com/office/powerpoint/2010/main" val="1648969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6A9138-A513-08CA-3A20-D7DE1AA5D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DD97FF56-7219-A24F-3890-2BAA5C480605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LAYERS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A3D948A8-ABD8-D33A-CF62-01C53AFBA360}"/>
              </a:ext>
            </a:extLst>
          </p:cNvPr>
          <p:cNvSpPr txBox="1"/>
          <p:nvPr/>
        </p:nvSpPr>
        <p:spPr>
          <a:xfrm>
            <a:off x="1043663" y="1070685"/>
            <a:ext cx="11062611" cy="571901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400" b="1">
                <a:solidFill>
                  <a:schemeClr val="bg1"/>
                </a:solidFill>
              </a:rPr>
              <a:t>Client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</a:t>
            </a:r>
            <a:r>
              <a:rPr lang="en-US" sz="2400" b="1">
                <a:solidFill>
                  <a:schemeClr val="bg1"/>
                </a:solidFill>
              </a:rPr>
              <a:t>→ Server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</a:t>
            </a:r>
            <a:r>
              <a:rPr lang="en-US" sz="2400" b="1">
                <a:solidFill>
                  <a:schemeClr val="bg1"/>
                </a:solidFill>
              </a:rPr>
              <a:t>→ Logging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</a:t>
            </a:r>
            <a:r>
              <a:rPr lang="en-US" sz="2400" b="1">
                <a:solidFill>
                  <a:schemeClr val="bg1"/>
                </a:solidFill>
              </a:rPr>
              <a:t>→ Configuration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</a:t>
            </a:r>
            <a:r>
              <a:rPr lang="en-US" sz="2400" b="1">
                <a:solidFill>
                  <a:schemeClr val="bg1"/>
                </a:solidFill>
              </a:rPr>
              <a:t>→ Auth</a:t>
            </a:r>
            <a:r>
              <a:rPr lang="hu-HU" sz="2400" b="1">
                <a:solidFill>
                  <a:schemeClr val="bg1"/>
                </a:solidFill>
              </a:rPr>
              <a:t>entication</a:t>
            </a:r>
            <a:r>
              <a:rPr lang="en-US" sz="2400" b="1">
                <a:solidFill>
                  <a:schemeClr val="bg1"/>
                </a:solidFill>
              </a:rPr>
              <a:t>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</a:t>
            </a:r>
            <a:r>
              <a:rPr lang="en-US" sz="2400" b="1">
                <a:solidFill>
                  <a:schemeClr val="bg1"/>
                </a:solidFill>
              </a:rPr>
              <a:t>→ Schema Validation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</a:t>
            </a:r>
            <a:r>
              <a:rPr lang="en-US" sz="2400" b="1">
                <a:solidFill>
                  <a:schemeClr val="bg1"/>
                </a:solidFill>
              </a:rPr>
              <a:t>→ Middleware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en-US" sz="2400" b="1">
                <a:solidFill>
                  <a:schemeClr val="bg1"/>
                </a:solidFill>
              </a:rPr>
              <a:t>→ Routing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</a:t>
            </a:r>
            <a:r>
              <a:rPr lang="en-US" sz="2400" b="1">
                <a:solidFill>
                  <a:schemeClr val="bg1"/>
                </a:solidFill>
              </a:rPr>
              <a:t>→ Controller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</a:t>
            </a:r>
            <a:r>
              <a:rPr lang="en-US" sz="2400" b="1">
                <a:solidFill>
                  <a:schemeClr val="bg1"/>
                </a:solidFill>
              </a:rPr>
              <a:t>→ Domain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</a:t>
            </a:r>
            <a:r>
              <a:rPr lang="en-US" sz="2400" b="1">
                <a:solidFill>
                  <a:schemeClr val="bg1"/>
                </a:solidFill>
              </a:rPr>
              <a:t>→ Service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</a:t>
            </a:r>
            <a:r>
              <a:rPr lang="en-US" sz="2400" b="1">
                <a:solidFill>
                  <a:schemeClr val="bg1"/>
                </a:solidFill>
              </a:rPr>
              <a:t>→ Repository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</a:t>
            </a:r>
            <a:r>
              <a:rPr lang="en-US" sz="2400" b="1">
                <a:solidFill>
                  <a:schemeClr val="bg1"/>
                </a:solidFill>
              </a:rPr>
              <a:t>→ Data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</a:t>
            </a:r>
            <a:r>
              <a:rPr lang="en-US" sz="2400" b="1">
                <a:solidFill>
                  <a:schemeClr val="bg1"/>
                </a:solidFill>
              </a:rPr>
              <a:t>→ Response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	</a:t>
            </a:r>
            <a:r>
              <a:rPr lang="en-US" sz="2400" b="1">
                <a:solidFill>
                  <a:schemeClr val="bg1"/>
                </a:solidFill>
              </a:rPr>
              <a:t>→ Global Error Handler</a:t>
            </a:r>
            <a:endParaRPr lang="hu-HU" sz="2400" b="1">
              <a:solidFill>
                <a:schemeClr val="bg1"/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3B8B422-9FED-4F9F-20E1-08F726FE3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53693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9B6A50-65A1-0BA4-DD39-A1321311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BAEF1234-F86D-F4C0-057D-5500B012F8C0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LAYERS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5551869F-0C33-AC86-80A7-D8410DC02BE7}"/>
              </a:ext>
            </a:extLst>
          </p:cNvPr>
          <p:cNvSpPr txBox="1"/>
          <p:nvPr/>
        </p:nvSpPr>
        <p:spPr>
          <a:xfrm>
            <a:off x="67159" y="1250040"/>
            <a:ext cx="12039115" cy="5539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400" b="1">
                <a:solidFill>
                  <a:srgbClr val="FFDF20"/>
                </a:solidFill>
              </a:rPr>
              <a:t>Clien</a:t>
            </a:r>
            <a:r>
              <a:rPr lang="hu-HU" sz="2400" b="1">
                <a:solidFill>
                  <a:srgbClr val="FFDF20"/>
                </a:solidFill>
              </a:rPr>
              <a:t>t </a:t>
            </a:r>
            <a:r>
              <a:rPr lang="hu-HU" b="1">
                <a:solidFill>
                  <a:srgbClr val="FFDF20"/>
                </a:solidFill>
              </a:rPr>
              <a:t>  </a:t>
            </a:r>
            <a:r>
              <a:rPr lang="hu-HU">
                <a:solidFill>
                  <a:schemeClr val="bg1"/>
                </a:solidFill>
              </a:rPr>
              <a:t>The web browser application. It sends HTTP requests, processes responses and displays the web content.</a:t>
            </a:r>
            <a:r>
              <a:rPr lang="hu-HU" b="1">
                <a:solidFill>
                  <a:schemeClr val="bg1"/>
                </a:solidFill>
              </a:rPr>
              <a:t> </a:t>
            </a:r>
          </a:p>
          <a:p>
            <a:pPr>
              <a:spcBef>
                <a:spcPts val="600"/>
              </a:spcBef>
              <a:tabLst>
                <a:tab pos="542925" algn="l"/>
              </a:tabLst>
            </a:pPr>
            <a:r>
              <a:rPr lang="en-US" sz="2400" b="1">
                <a:solidFill>
                  <a:srgbClr val="FFDF20"/>
                </a:solidFill>
              </a:rPr>
              <a:t>Server</a:t>
            </a:r>
            <a:r>
              <a:rPr lang="hu-HU" sz="2400" b="1">
                <a:solidFill>
                  <a:srgbClr val="FFDF20"/>
                </a:solidFill>
              </a:rPr>
              <a:t>  </a:t>
            </a:r>
            <a:r>
              <a:rPr lang="hu-HU" sz="2400" b="1">
                <a:solidFill>
                  <a:schemeClr val="bg1"/>
                </a:solidFill>
              </a:rPr>
              <a:t> </a:t>
            </a:r>
            <a:r>
              <a:rPr lang="hu-HU">
                <a:solidFill>
                  <a:schemeClr val="bg1"/>
                </a:solidFill>
              </a:rPr>
              <a:t>The entry point of the backend. It initializes Express, loads configuration, registers global middleware, mounts</a:t>
            </a:r>
            <a:br>
              <a:rPr lang="hu-HU">
                <a:solidFill>
                  <a:schemeClr val="bg1"/>
                </a:solidFill>
              </a:rPr>
            </a:br>
            <a:r>
              <a:rPr lang="hu-HU">
                <a:solidFill>
                  <a:schemeClr val="bg1"/>
                </a:solidFill>
              </a:rPr>
              <a:t>		    routers, and starts listening on a port. It accepts incoming HTTP requests and hands them into the pipeline.</a:t>
            </a:r>
          </a:p>
          <a:p>
            <a:pPr>
              <a:spcBef>
                <a:spcPts val="600"/>
              </a:spcBef>
              <a:tabLst>
                <a:tab pos="542925" algn="l"/>
              </a:tabLst>
            </a:pPr>
            <a:r>
              <a:rPr lang="en-US" sz="2400" b="1">
                <a:solidFill>
                  <a:schemeClr val="bg1"/>
                </a:solidFill>
              </a:rPr>
              <a:t>Logging</a:t>
            </a:r>
            <a:r>
              <a:rPr lang="hu-HU" sz="2400" b="1">
                <a:solidFill>
                  <a:schemeClr val="bg1"/>
                </a:solidFill>
              </a:rPr>
              <a:t>   </a:t>
            </a:r>
            <a:r>
              <a:rPr lang="hu-HU">
                <a:solidFill>
                  <a:schemeClr val="bg1"/>
                </a:solidFill>
              </a:rPr>
              <a:t>A middleware that records each incoming request (method, URL, timestamp) and optionally outgoing</a:t>
            </a:r>
            <a:br>
              <a:rPr lang="hu-HU">
                <a:solidFill>
                  <a:schemeClr val="bg1"/>
                </a:solidFill>
              </a:rPr>
            </a:br>
            <a:r>
              <a:rPr lang="hu-HU">
                <a:solidFill>
                  <a:schemeClr val="bg1"/>
                </a:solidFill>
              </a:rPr>
              <a:t>		       responses or errors. It provides observability, debugging information, and audit trails.</a:t>
            </a:r>
          </a:p>
          <a:p>
            <a:pPr>
              <a:spcBef>
                <a:spcPts val="600"/>
              </a:spcBef>
              <a:tabLst>
                <a:tab pos="542925" algn="l"/>
              </a:tabLst>
            </a:pPr>
            <a:r>
              <a:rPr lang="en-US" sz="2400" b="1">
                <a:solidFill>
                  <a:schemeClr val="bg1"/>
                </a:solidFill>
              </a:rPr>
              <a:t>Configuration</a:t>
            </a:r>
            <a:r>
              <a:rPr lang="hu-HU" sz="2400" b="1">
                <a:solidFill>
                  <a:schemeClr val="bg1"/>
                </a:solidFill>
              </a:rPr>
              <a:t>   </a:t>
            </a:r>
            <a:r>
              <a:rPr lang="hu-HU">
                <a:solidFill>
                  <a:schemeClr val="bg1"/>
                </a:solidFill>
              </a:rPr>
              <a:t>Centralized storage of environment‑specific settings (port, DB URL, secrets, feature flags).</a:t>
            </a:r>
            <a:br>
              <a:rPr lang="hu-HU">
                <a:solidFill>
                  <a:schemeClr val="bg1"/>
                </a:solidFill>
              </a:rPr>
            </a:br>
            <a:r>
              <a:rPr lang="hu-HU">
                <a:solidFill>
                  <a:schemeClr val="bg1"/>
                </a:solidFill>
              </a:rPr>
              <a:t>			      Ensures the server behaves correctly across environments (dev, test, prod).</a:t>
            </a:r>
          </a:p>
          <a:p>
            <a:pPr>
              <a:spcBef>
                <a:spcPts val="600"/>
              </a:spcBef>
              <a:tabLst>
                <a:tab pos="542925" algn="l"/>
              </a:tabLst>
            </a:pPr>
            <a:r>
              <a:rPr lang="en-US" sz="2400" b="1">
                <a:solidFill>
                  <a:schemeClr val="bg1"/>
                </a:solidFill>
              </a:rPr>
              <a:t>Auth</a:t>
            </a:r>
            <a:r>
              <a:rPr lang="hu-HU" sz="2400" b="1">
                <a:solidFill>
                  <a:schemeClr val="bg1"/>
                </a:solidFill>
              </a:rPr>
              <a:t>entication   </a:t>
            </a:r>
            <a:r>
              <a:rPr lang="hu-HU">
                <a:solidFill>
                  <a:schemeClr val="bg1"/>
                </a:solidFill>
              </a:rPr>
              <a:t>Responsible for authentication (identity verification) and authorization (permission checking).</a:t>
            </a:r>
            <a:br>
              <a:rPr lang="hu-HU">
                <a:solidFill>
                  <a:schemeClr val="bg1"/>
                </a:solidFill>
              </a:rPr>
            </a:br>
            <a:r>
              <a:rPr lang="hu-HU">
                <a:solidFill>
                  <a:schemeClr val="bg1"/>
                </a:solidFill>
              </a:rPr>
              <a:t>			         Determines whether the request is allowed to proceed based on tokens, sessions, or roles.</a:t>
            </a:r>
          </a:p>
          <a:p>
            <a:pPr>
              <a:spcBef>
                <a:spcPts val="600"/>
              </a:spcBef>
              <a:tabLst>
                <a:tab pos="542925" algn="l"/>
              </a:tabLst>
            </a:pPr>
            <a:r>
              <a:rPr lang="en-US" sz="2400" b="1">
                <a:solidFill>
                  <a:schemeClr val="bg1"/>
                </a:solidFill>
              </a:rPr>
              <a:t>Schema Validation</a:t>
            </a:r>
            <a:r>
              <a:rPr lang="hu-HU" sz="2400" b="1">
                <a:solidFill>
                  <a:schemeClr val="bg1"/>
                </a:solidFill>
              </a:rPr>
              <a:t>   </a:t>
            </a:r>
            <a:r>
              <a:rPr lang="hu-HU">
                <a:solidFill>
                  <a:schemeClr val="bg1"/>
                </a:solidFill>
              </a:rPr>
              <a:t>A strict validator that checks request bodies, params, and queries against defined schemas.</a:t>
            </a:r>
            <a:br>
              <a:rPr lang="hu-HU">
                <a:solidFill>
                  <a:schemeClr val="bg1"/>
                </a:solidFill>
              </a:rPr>
            </a:br>
            <a:r>
              <a:rPr lang="hu-HU">
                <a:solidFill>
                  <a:schemeClr val="bg1"/>
                </a:solidFill>
              </a:rPr>
              <a:t>				Guarantees that only structurally valid, well‑formed data enters the business logic.</a:t>
            </a:r>
          </a:p>
          <a:p>
            <a:pPr>
              <a:spcBef>
                <a:spcPts val="600"/>
              </a:spcBef>
              <a:tabLst>
                <a:tab pos="542925" algn="l"/>
              </a:tabLst>
            </a:pPr>
            <a:r>
              <a:rPr lang="en-US" sz="2400" b="1">
                <a:solidFill>
                  <a:srgbClr val="FFDF20"/>
                </a:solidFill>
              </a:rPr>
              <a:t>Middleware</a:t>
            </a:r>
            <a:r>
              <a:rPr lang="hu-HU" sz="2400" b="1">
                <a:solidFill>
                  <a:srgbClr val="FFDF20"/>
                </a:solidFill>
              </a:rPr>
              <a:t>   </a:t>
            </a:r>
            <a:r>
              <a:rPr lang="hu-HU">
                <a:solidFill>
                  <a:schemeClr val="bg1"/>
                </a:solidFill>
              </a:rPr>
              <a:t>General-purpose layer for input normalization, rate limiting, custom validation, etc.</a:t>
            </a:r>
            <a:br>
              <a:rPr lang="hu-HU">
                <a:solidFill>
                  <a:schemeClr val="bg1"/>
                </a:solidFill>
              </a:rPr>
            </a:br>
            <a:r>
              <a:rPr lang="hu-HU">
                <a:solidFill>
                  <a:schemeClr val="bg1"/>
                </a:solidFill>
              </a:rPr>
              <a:t>			Transforms or inspects the request before routing, or short‑circuits invalid requests.</a:t>
            </a:r>
          </a:p>
          <a:p>
            <a:pPr>
              <a:spcBef>
                <a:spcPts val="600"/>
              </a:spcBef>
              <a:tabLst>
                <a:tab pos="542925" algn="l"/>
              </a:tabLst>
            </a:pPr>
            <a:r>
              <a:rPr lang="en-US" sz="2400" b="1">
                <a:solidFill>
                  <a:srgbClr val="FFDF20"/>
                </a:solidFill>
              </a:rPr>
              <a:t>Routing</a:t>
            </a:r>
            <a:r>
              <a:rPr lang="hu-HU" sz="2400" b="1">
                <a:solidFill>
                  <a:srgbClr val="FFDF20"/>
                </a:solidFill>
              </a:rPr>
              <a:t>   </a:t>
            </a:r>
            <a:r>
              <a:rPr lang="hu-HU">
                <a:solidFill>
                  <a:schemeClr val="bg1"/>
                </a:solidFill>
              </a:rPr>
              <a:t>Express routers that map HTTP methods and paths to specific controllers.</a:t>
            </a:r>
            <a:br>
              <a:rPr lang="hu-HU">
                <a:solidFill>
                  <a:schemeClr val="bg1"/>
                </a:solidFill>
              </a:rPr>
            </a:br>
            <a:r>
              <a:rPr lang="hu-HU">
                <a:solidFill>
                  <a:schemeClr val="bg1"/>
                </a:solidFill>
              </a:rPr>
              <a:t>		       Determines which controller should handle the request based on URL and method.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2E533C7-4335-D2C4-F189-C7CA6DA92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0177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6230B4-5687-3AB5-F129-FF47D1215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B3F44BE8-1E50-B0C3-5940-60E6BA06A6B7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LAYERS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F035B44B-E970-9691-923B-9A605FAD10EC}"/>
              </a:ext>
            </a:extLst>
          </p:cNvPr>
          <p:cNvSpPr txBox="1"/>
          <p:nvPr/>
        </p:nvSpPr>
        <p:spPr>
          <a:xfrm>
            <a:off x="67159" y="1240515"/>
            <a:ext cx="12039115" cy="554919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400" b="1">
                <a:solidFill>
                  <a:srgbClr val="FFDF20"/>
                </a:solidFill>
              </a:rPr>
              <a:t>Controller</a:t>
            </a: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hu-HU">
                <a:solidFill>
                  <a:schemeClr val="bg1"/>
                </a:solidFill>
              </a:rPr>
              <a:t>Thin request handlers that orchestrate the flow: extract input, call services, and send responses.</a:t>
            </a:r>
            <a:br>
              <a:rPr lang="hu-HU">
                <a:solidFill>
                  <a:schemeClr val="bg1"/>
                </a:solidFill>
              </a:rPr>
            </a:br>
            <a:r>
              <a:rPr lang="hu-HU">
                <a:solidFill>
                  <a:schemeClr val="bg1"/>
                </a:solidFill>
              </a:rPr>
              <a:t>			Acts as the bridge between HTTP world (req/res) and business logic (services).</a:t>
            </a:r>
            <a:endParaRPr lang="hu-HU" sz="2400" b="1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  <a:tabLst>
                <a:tab pos="542925" algn="l"/>
              </a:tabLst>
            </a:pPr>
            <a:r>
              <a:rPr lang="en-US" sz="2400" b="1">
                <a:solidFill>
                  <a:schemeClr val="bg1"/>
                </a:solidFill>
              </a:rPr>
              <a:t>Domain</a:t>
            </a:r>
            <a:r>
              <a:rPr lang="hu-HU" sz="2400" b="1">
                <a:solidFill>
                  <a:schemeClr val="bg1"/>
                </a:solidFill>
              </a:rPr>
              <a:t>   </a:t>
            </a:r>
            <a:r>
              <a:rPr lang="hu-HU">
                <a:solidFill>
                  <a:schemeClr val="bg1"/>
                </a:solidFill>
              </a:rPr>
              <a:t>Optional layer containing domain models and business rules (e.g., Todo entity enforcing invariants).</a:t>
            </a:r>
            <a:br>
              <a:rPr lang="hu-HU">
                <a:solidFill>
                  <a:schemeClr val="bg1"/>
                </a:solidFill>
              </a:rPr>
            </a:br>
            <a:r>
              <a:rPr lang="hu-HU">
                <a:solidFill>
                  <a:schemeClr val="bg1"/>
                </a:solidFill>
              </a:rPr>
              <a:t>		        Ensures business rules are enforced consistently, independent of controllers or storage.</a:t>
            </a:r>
          </a:p>
          <a:p>
            <a:pPr>
              <a:spcBef>
                <a:spcPts val="600"/>
              </a:spcBef>
              <a:tabLst>
                <a:tab pos="542925" algn="l"/>
              </a:tabLst>
            </a:pPr>
            <a:r>
              <a:rPr lang="en-US" sz="2400" b="1">
                <a:solidFill>
                  <a:srgbClr val="FFDF20"/>
                </a:solidFill>
              </a:rPr>
              <a:t>Service</a:t>
            </a:r>
            <a:r>
              <a:rPr lang="hu-HU" sz="2400" b="1">
                <a:solidFill>
                  <a:srgbClr val="FFDF20"/>
                </a:solidFill>
              </a:rPr>
              <a:t>   </a:t>
            </a:r>
            <a:r>
              <a:rPr lang="hu-HU">
                <a:solidFill>
                  <a:schemeClr val="bg1"/>
                </a:solidFill>
              </a:rPr>
              <a:t>Contains business logic: operations, workflows, calculations, and rules that define how the system behaves.</a:t>
            </a:r>
            <a:br>
              <a:rPr lang="hu-HU">
                <a:solidFill>
                  <a:schemeClr val="bg1"/>
                </a:solidFill>
              </a:rPr>
            </a:br>
            <a:r>
              <a:rPr lang="hu-HU">
                <a:solidFill>
                  <a:schemeClr val="bg1"/>
                </a:solidFill>
              </a:rPr>
              <a:t>		       Implements the actual behavior of the application (e.g., “create todo”, “delete todo”).</a:t>
            </a:r>
          </a:p>
          <a:p>
            <a:pPr>
              <a:spcBef>
                <a:spcPts val="600"/>
              </a:spcBef>
              <a:tabLst>
                <a:tab pos="542925" algn="l"/>
              </a:tabLst>
            </a:pPr>
            <a:r>
              <a:rPr lang="en-US" sz="2400" b="1">
                <a:solidFill>
                  <a:srgbClr val="FFDF20"/>
                </a:solidFill>
              </a:rPr>
              <a:t>Repository</a:t>
            </a: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hu-HU">
                <a:solidFill>
                  <a:schemeClr val="bg1"/>
                </a:solidFill>
              </a:rPr>
              <a:t>Abstracts data access behind a consistent interface (find, insert, update, delete).</a:t>
            </a:r>
            <a:br>
              <a:rPr lang="hu-HU">
                <a:solidFill>
                  <a:schemeClr val="bg1"/>
                </a:solidFill>
              </a:rPr>
            </a:br>
            <a:r>
              <a:rPr lang="hu-HU">
                <a:solidFill>
                  <a:schemeClr val="bg1"/>
                </a:solidFill>
              </a:rPr>
              <a:t>			Decouples business logic from storage technology (memory, SQL, MongoDB, etc.).</a:t>
            </a:r>
          </a:p>
          <a:p>
            <a:pPr>
              <a:spcBef>
                <a:spcPts val="600"/>
              </a:spcBef>
              <a:tabLst>
                <a:tab pos="542925" algn="l"/>
              </a:tabLst>
            </a:pPr>
            <a:r>
              <a:rPr lang="en-US" sz="2400" b="1">
                <a:solidFill>
                  <a:srgbClr val="FFDF20"/>
                </a:solidFill>
              </a:rPr>
              <a:t>Data</a:t>
            </a:r>
            <a:r>
              <a:rPr lang="hu-HU" sz="2400" b="1">
                <a:solidFill>
                  <a:srgbClr val="FFDF20"/>
                </a:solidFill>
              </a:rPr>
              <a:t> Layer	</a:t>
            </a:r>
            <a:r>
              <a:rPr lang="hu-HU">
                <a:solidFill>
                  <a:schemeClr val="bg1"/>
                </a:solidFill>
              </a:rPr>
              <a:t>The actual storage mechanism; can be an in‑memory array, a file, or a database.</a:t>
            </a:r>
            <a:br>
              <a:rPr lang="hu-HU">
                <a:solidFill>
                  <a:schemeClr val="bg1"/>
                </a:solidFill>
              </a:rPr>
            </a:br>
            <a:r>
              <a:rPr lang="hu-HU">
                <a:solidFill>
                  <a:schemeClr val="bg1"/>
                </a:solidFill>
              </a:rPr>
              <a:t>			Persists and retrieves data; the lowest-level component in the stack.</a:t>
            </a:r>
          </a:p>
          <a:p>
            <a:pPr>
              <a:spcBef>
                <a:spcPts val="600"/>
              </a:spcBef>
              <a:tabLst>
                <a:tab pos="542925" algn="l"/>
              </a:tabLst>
            </a:pPr>
            <a:r>
              <a:rPr lang="en-US" sz="2400" b="1">
                <a:solidFill>
                  <a:srgbClr val="FFDF20"/>
                </a:solidFill>
              </a:rPr>
              <a:t>Respons</a:t>
            </a:r>
            <a:r>
              <a:rPr lang="hu-HU" sz="2400" b="1">
                <a:solidFill>
                  <a:srgbClr val="FFDF20"/>
                </a:solidFill>
              </a:rPr>
              <a:t>e	</a:t>
            </a:r>
            <a:r>
              <a:rPr lang="hu-HU">
                <a:solidFill>
                  <a:schemeClr val="bg1"/>
                </a:solidFill>
              </a:rPr>
              <a:t>The HTTP response sent back to the Client.</a:t>
            </a:r>
            <a:endParaRPr lang="hu-HU" b="1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  <a:tabLst>
                <a:tab pos="542925" algn="l"/>
              </a:tabLst>
            </a:pPr>
            <a:r>
              <a:rPr lang="en-US" sz="2400" b="1">
                <a:solidFill>
                  <a:schemeClr val="bg1"/>
                </a:solidFill>
              </a:rPr>
              <a:t>Global Error Handler</a:t>
            </a:r>
            <a:r>
              <a:rPr lang="hu-HU" sz="2400" b="1">
                <a:solidFill>
                  <a:schemeClr val="bg1"/>
                </a:solidFill>
              </a:rPr>
              <a:t>   </a:t>
            </a:r>
            <a:r>
              <a:rPr lang="hu-HU">
                <a:solidFill>
                  <a:schemeClr val="bg1"/>
                </a:solidFill>
              </a:rPr>
              <a:t>A centralized error‑handling middleware that catches thrown errors or rejected promises.</a:t>
            </a:r>
            <a:br>
              <a:rPr lang="hu-HU">
                <a:solidFill>
                  <a:schemeClr val="bg1"/>
                </a:solidFill>
              </a:rPr>
            </a:br>
            <a:r>
              <a:rPr lang="hu-HU">
                <a:solidFill>
                  <a:schemeClr val="bg1"/>
                </a:solidFill>
              </a:rPr>
              <a:t>				     </a:t>
            </a:r>
            <a:r>
              <a:rPr lang="hu-HU" b="1">
                <a:solidFill>
                  <a:schemeClr val="bg1"/>
                </a:solidFill>
              </a:rPr>
              <a:t> </a:t>
            </a:r>
            <a:r>
              <a:rPr lang="hu-HU">
                <a:solidFill>
                  <a:schemeClr val="bg1"/>
                </a:solidFill>
              </a:rPr>
              <a:t>Ensures consistent error responses and prevents the server from crashing.</a:t>
            </a:r>
          </a:p>
          <a:p>
            <a:pPr>
              <a:spcBef>
                <a:spcPts val="600"/>
              </a:spcBef>
              <a:tabLst>
                <a:tab pos="542925" algn="l"/>
              </a:tabLst>
            </a:pPr>
            <a:r>
              <a:rPr lang="hu-HU" sz="2400" b="1">
                <a:solidFill>
                  <a:srgbClr val="FFDF20"/>
                </a:solidFill>
              </a:rPr>
              <a:t>Static layer	</a:t>
            </a:r>
            <a:r>
              <a:rPr lang="hu-HU">
                <a:solidFill>
                  <a:schemeClr val="bg1"/>
                </a:solidFill>
              </a:rPr>
              <a:t>Express’ static file server that serves HTML, CSS, JS, images directly from the filesystem.</a:t>
            </a:r>
            <a:br>
              <a:rPr lang="hu-HU">
                <a:solidFill>
                  <a:schemeClr val="bg1"/>
                </a:solidFill>
              </a:rPr>
            </a:br>
            <a:r>
              <a:rPr lang="hu-HU">
                <a:solidFill>
                  <a:schemeClr val="bg1"/>
                </a:solidFill>
              </a:rPr>
              <a:t>			Handles frontend asset delivery without involving the API pipeline.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AA56CDF-0B0D-D33E-1D5A-A8AFE16DF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2998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FF81B-09AE-FEF1-FABE-6273B3FCD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A1909030-41C9-D035-07EA-43F19306D0C9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LAYERS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68767FDE-D42C-FD14-2F1E-FD5B562C08F0}"/>
              </a:ext>
            </a:extLst>
          </p:cNvPr>
          <p:cNvSpPr txBox="1"/>
          <p:nvPr/>
        </p:nvSpPr>
        <p:spPr>
          <a:xfrm>
            <a:off x="1043663" y="1070685"/>
            <a:ext cx="11062611" cy="571901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400" b="1">
                <a:solidFill>
                  <a:schemeClr val="bg1"/>
                </a:solidFill>
              </a:rPr>
              <a:t>Client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</a:t>
            </a:r>
            <a:r>
              <a:rPr lang="en-US" sz="2400" b="1">
                <a:solidFill>
                  <a:schemeClr val="bg1"/>
                </a:solidFill>
              </a:rPr>
              <a:t>→ Server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Logging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</a:t>
            </a:r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→ Configuration Layer</a:t>
            </a:r>
            <a:endParaRPr lang="hu-HU" sz="2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Auth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entication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 Layer 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Schema Validation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</a:t>
            </a:r>
            <a:r>
              <a:rPr lang="en-US" sz="2400" b="1">
                <a:solidFill>
                  <a:schemeClr val="bg1"/>
                </a:solidFill>
              </a:rPr>
              <a:t>→ Middleware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en-US" sz="2400" b="1">
                <a:solidFill>
                  <a:schemeClr val="bg1"/>
                </a:solidFill>
              </a:rPr>
              <a:t>→ Routing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</a:t>
            </a:r>
            <a:r>
              <a:rPr lang="en-US" sz="2400" b="1">
                <a:solidFill>
                  <a:schemeClr val="bg1"/>
                </a:solidFill>
              </a:rPr>
              <a:t>→ Controller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Domain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</a:t>
            </a:r>
            <a:r>
              <a:rPr lang="en-US" sz="2400" b="1">
                <a:solidFill>
                  <a:schemeClr val="bg1"/>
                </a:solidFill>
              </a:rPr>
              <a:t>→ Service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</a:t>
            </a:r>
            <a:r>
              <a:rPr lang="en-US" sz="2400" b="1">
                <a:solidFill>
                  <a:schemeClr val="bg1"/>
                </a:solidFill>
              </a:rPr>
              <a:t>→ Repository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</a:t>
            </a:r>
            <a:r>
              <a:rPr lang="en-US" sz="2400" b="1">
                <a:solidFill>
                  <a:schemeClr val="bg1"/>
                </a:solidFill>
              </a:rPr>
              <a:t>→ Data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</a:t>
            </a:r>
            <a:r>
              <a:rPr lang="en-US" sz="2400" b="1">
                <a:solidFill>
                  <a:schemeClr val="bg1"/>
                </a:solidFill>
              </a:rPr>
              <a:t>→ Response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Global Error Handler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4F6E772A-A35E-D4B0-D862-02E8F1C65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E2E7D940-67EF-3901-D1E7-50605E257329}"/>
              </a:ext>
            </a:extLst>
          </p:cNvPr>
          <p:cNvSpPr/>
          <p:nvPr/>
        </p:nvSpPr>
        <p:spPr>
          <a:xfrm>
            <a:off x="952500" y="1105729"/>
            <a:ext cx="3552825" cy="3810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045044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CB03BD-9E3D-3CCF-5868-23E1DDB7D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56D3E7D8-4DC3-CDF9-C21D-EE795697F1F7}"/>
              </a:ext>
            </a:extLst>
          </p:cNvPr>
          <p:cNvSpPr txBox="1"/>
          <p:nvPr/>
        </p:nvSpPr>
        <p:spPr>
          <a:xfrm>
            <a:off x="2959547" y="68295"/>
            <a:ext cx="62729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"GROUND-ZERO"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LOCAL HTML+CSS+JS FILES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6B52971-971B-E724-096C-8BD503112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AB270FC8-7DA6-C919-2D81-61B598A1F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5918" y="2495419"/>
            <a:ext cx="4220164" cy="1867161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80CEE58C-DB18-DD23-76B0-B8CEF294EF36}"/>
              </a:ext>
            </a:extLst>
          </p:cNvPr>
          <p:cNvSpPr txBox="1"/>
          <p:nvPr/>
        </p:nvSpPr>
        <p:spPr>
          <a:xfrm>
            <a:off x="2876550" y="5257495"/>
            <a:ext cx="6096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"btn"</a:t>
            </a:r>
            <a:r>
              <a:rPr lang="en-US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Click me</a:t>
            </a:r>
            <a:r>
              <a:rPr lang="en-US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1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1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7904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7C75C-C082-0AE8-F773-AD1D409C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CB346E9F-11FF-A748-DE8F-D3FE26FD2C87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LAYERS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06690A65-436B-ADF4-1EB1-A72203689878}"/>
              </a:ext>
            </a:extLst>
          </p:cNvPr>
          <p:cNvSpPr txBox="1"/>
          <p:nvPr/>
        </p:nvSpPr>
        <p:spPr>
          <a:xfrm>
            <a:off x="1043663" y="1070685"/>
            <a:ext cx="11062611" cy="571901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400" b="1">
                <a:solidFill>
                  <a:schemeClr val="bg1"/>
                </a:solidFill>
              </a:rPr>
              <a:t>Client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</a:t>
            </a:r>
            <a:r>
              <a:rPr lang="en-US" sz="2400" b="1">
                <a:solidFill>
                  <a:schemeClr val="bg1"/>
                </a:solidFill>
              </a:rPr>
              <a:t>→ Server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Logging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</a:t>
            </a:r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→ Configuration Layer</a:t>
            </a:r>
            <a:endParaRPr lang="hu-HU" sz="2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Auth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entication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 Layer 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Schema Validation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</a:t>
            </a:r>
            <a:r>
              <a:rPr lang="en-US" sz="2400" b="1">
                <a:solidFill>
                  <a:schemeClr val="bg1"/>
                </a:solidFill>
              </a:rPr>
              <a:t>→ Middleware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en-US" sz="2400" b="1">
                <a:solidFill>
                  <a:schemeClr val="bg1"/>
                </a:solidFill>
              </a:rPr>
              <a:t>→ Routing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</a:t>
            </a:r>
            <a:r>
              <a:rPr lang="en-US" sz="2400" b="1">
                <a:solidFill>
                  <a:schemeClr val="bg1"/>
                </a:solidFill>
              </a:rPr>
              <a:t>→ Controller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Domain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</a:t>
            </a:r>
            <a:r>
              <a:rPr lang="en-US" sz="2400" b="1">
                <a:solidFill>
                  <a:schemeClr val="bg1"/>
                </a:solidFill>
              </a:rPr>
              <a:t>→ Service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</a:t>
            </a:r>
            <a:r>
              <a:rPr lang="en-US" sz="2400" b="1">
                <a:solidFill>
                  <a:schemeClr val="bg1"/>
                </a:solidFill>
              </a:rPr>
              <a:t>→ Repository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</a:t>
            </a:r>
            <a:r>
              <a:rPr lang="en-US" sz="2400" b="1">
                <a:solidFill>
                  <a:schemeClr val="bg1"/>
                </a:solidFill>
              </a:rPr>
              <a:t>→ Data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</a:t>
            </a:r>
            <a:r>
              <a:rPr lang="en-US" sz="2400" b="1">
                <a:solidFill>
                  <a:schemeClr val="bg1"/>
                </a:solidFill>
              </a:rPr>
              <a:t>→ Response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Global Error Handler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914EAAF-4E49-745C-AF4A-AE9F6A00D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E102C75D-CBD9-F19D-84CE-FE6DC337CE70}"/>
              </a:ext>
            </a:extLst>
          </p:cNvPr>
          <p:cNvSpPr/>
          <p:nvPr/>
        </p:nvSpPr>
        <p:spPr>
          <a:xfrm>
            <a:off x="952500" y="1105729"/>
            <a:ext cx="3552825" cy="3810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432037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C8719-5866-5E2D-A360-2D9B5E99D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06528490-AA36-E3FA-F434-1D9CBF75F157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LAYERS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97496CFD-5463-D5AB-9F17-44DCED35EE87}"/>
              </a:ext>
            </a:extLst>
          </p:cNvPr>
          <p:cNvSpPr txBox="1"/>
          <p:nvPr/>
        </p:nvSpPr>
        <p:spPr>
          <a:xfrm>
            <a:off x="1043663" y="1070685"/>
            <a:ext cx="11062611" cy="571901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400" b="1">
                <a:solidFill>
                  <a:srgbClr val="FFDF20"/>
                </a:solidFill>
              </a:rPr>
              <a:t>Client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</a:t>
            </a:r>
            <a:r>
              <a:rPr lang="en-US" sz="2400" b="1">
                <a:solidFill>
                  <a:schemeClr val="bg1"/>
                </a:solidFill>
              </a:rPr>
              <a:t>→ Server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Logging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</a:t>
            </a:r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→ Configuration Layer</a:t>
            </a:r>
            <a:endParaRPr lang="hu-HU" sz="2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Auth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entication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 Layer 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Schema Validation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</a:t>
            </a:r>
            <a:r>
              <a:rPr lang="en-US" sz="2400" b="1">
                <a:solidFill>
                  <a:schemeClr val="bg1"/>
                </a:solidFill>
              </a:rPr>
              <a:t>→ Middleware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en-US" sz="2400" b="1">
                <a:solidFill>
                  <a:schemeClr val="bg1"/>
                </a:solidFill>
              </a:rPr>
              <a:t>→ Routing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</a:t>
            </a:r>
            <a:r>
              <a:rPr lang="en-US" sz="2400" b="1">
                <a:solidFill>
                  <a:schemeClr val="bg1"/>
                </a:solidFill>
              </a:rPr>
              <a:t>→ Controller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Domain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</a:t>
            </a:r>
            <a:r>
              <a:rPr lang="en-US" sz="2400" b="1">
                <a:solidFill>
                  <a:schemeClr val="bg1"/>
                </a:solidFill>
              </a:rPr>
              <a:t>→ Service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</a:t>
            </a:r>
            <a:r>
              <a:rPr lang="en-US" sz="2400" b="1">
                <a:solidFill>
                  <a:schemeClr val="bg1"/>
                </a:solidFill>
              </a:rPr>
              <a:t>→ Repository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</a:t>
            </a:r>
            <a:r>
              <a:rPr lang="en-US" sz="2400" b="1">
                <a:solidFill>
                  <a:schemeClr val="bg1"/>
                </a:solidFill>
              </a:rPr>
              <a:t>→ Data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</a:t>
            </a:r>
            <a:r>
              <a:rPr lang="en-US" sz="2400" b="1">
                <a:solidFill>
                  <a:schemeClr val="bg1"/>
                </a:solidFill>
              </a:rPr>
              <a:t>→ Response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Global Error Handler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E36B60C-CF89-67A1-2D3D-A741C4F24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20E385EF-5B40-E3D2-45D2-832B42C9F546}"/>
              </a:ext>
            </a:extLst>
          </p:cNvPr>
          <p:cNvSpPr/>
          <p:nvPr/>
        </p:nvSpPr>
        <p:spPr>
          <a:xfrm>
            <a:off x="1152525" y="1477204"/>
            <a:ext cx="3552825" cy="3810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5018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C3A37-C51A-12BB-10D1-5B5B03415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834EBDA1-F972-CB0C-B7CB-E81A53CF17A9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BASIC HTTP SERVER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01B36001-0071-FE67-43CB-EE170672048A}"/>
              </a:ext>
            </a:extLst>
          </p:cNvPr>
          <p:cNvSpPr txBox="1"/>
          <p:nvPr/>
        </p:nvSpPr>
        <p:spPr>
          <a:xfrm>
            <a:off x="67159" y="1250039"/>
            <a:ext cx="2380766" cy="1397911"/>
          </a:xfrm>
          <a:prstGeom prst="rect">
            <a:avLst/>
          </a:prstGeom>
          <a:noFill/>
          <a:ln w="12700">
            <a:solidFill>
              <a:srgbClr val="FFDF20"/>
            </a:solidFill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npm init –y</a:t>
            </a: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endParaRPr lang="hu-HU" sz="2000" b="1">
              <a:solidFill>
                <a:srgbClr val="FFDF20"/>
              </a:solidFill>
              <a:latin typeface="Consolas" panose="020B0609020204030204" pitchFamily="49" charset="0"/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package.json</a:t>
            </a: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"type"="module"</a:t>
            </a: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A6326A4-3C79-1D9D-0E90-AFC2EE655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4233EC3C-CE39-0F75-181D-7C8E3AC6949D}"/>
              </a:ext>
            </a:extLst>
          </p:cNvPr>
          <p:cNvSpPr txBox="1"/>
          <p:nvPr/>
        </p:nvSpPr>
        <p:spPr>
          <a:xfrm>
            <a:off x="3614437" y="1250039"/>
            <a:ext cx="8200540" cy="5539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http from 'http';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fs from 'fs';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const server = http.createServer((req, res) =&gt;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// Read an HTML file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fs.readFile('index.html', (err, data) =&gt; {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    // Send the HTML file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res.writeHead(200, { 'Content-Type': 'text/html' });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res.end(data);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});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// Start the server on port 3000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server.listen(3000, () =&gt;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console.log('Server running at http://localhost:3000');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37B504B1-993C-C979-BBE7-803A41E328A7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</p:txBody>
      </p:sp>
    </p:spTree>
    <p:extLst>
      <p:ext uri="{BB962C8B-B14F-4D97-AF65-F5344CB8AC3E}">
        <p14:creationId xmlns:p14="http://schemas.microsoft.com/office/powerpoint/2010/main" val="383625403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6F839-CF51-770E-8618-E8CE767E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AD73BB84-838B-47C1-FDC7-0262E8EB6EC6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BASIC HTTP SERVER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9947709A-1636-94F2-FD51-2576973EA997}"/>
              </a:ext>
            </a:extLst>
          </p:cNvPr>
          <p:cNvSpPr txBox="1"/>
          <p:nvPr/>
        </p:nvSpPr>
        <p:spPr>
          <a:xfrm>
            <a:off x="1162050" y="1335764"/>
            <a:ext cx="9772649" cy="5293636"/>
          </a:xfrm>
          <a:prstGeom prst="rect">
            <a:avLst/>
          </a:prstGeom>
          <a:noFill/>
          <a:ln w="12700">
            <a:solidFill>
              <a:srgbClr val="FFDF20"/>
            </a:solidFill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RUN IN TERMINAL</a:t>
            </a: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node server.js</a:t>
            </a: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http://localhost:3000</a:t>
            </a: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CTRL+C to kill</a:t>
            </a: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RUN IN THE BACKGROUND (PS)</a:t>
            </a: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$proc = Start-Process node server.js -NoNewWindow -Passthru</a:t>
            </a: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Get-Process node</a:t>
            </a: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Stop-Process -Name node</a:t>
            </a:r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PROBLEM</a:t>
            </a: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This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basic HTTP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server serves only 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the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static 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index.html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 file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b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						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does not handle any linked resources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b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						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does not follow any weblink on the page.</a:t>
            </a: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5CE099A-85D1-A742-73BD-C80ED0EEA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74A3ABCC-0E27-E87D-A779-7688E6664996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</p:txBody>
      </p:sp>
    </p:spTree>
    <p:extLst>
      <p:ext uri="{BB962C8B-B14F-4D97-AF65-F5344CB8AC3E}">
        <p14:creationId xmlns:p14="http://schemas.microsoft.com/office/powerpoint/2010/main" val="261951497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155C3D-A08D-5526-A05E-7318EC70C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68931ED8-490F-CE65-8920-23693A86A4CF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STATIC WEB SERVICE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361489FF-AB44-81F8-1B5A-FF631AD0D38E}"/>
              </a:ext>
            </a:extLst>
          </p:cNvPr>
          <p:cNvSpPr txBox="1"/>
          <p:nvPr/>
        </p:nvSpPr>
        <p:spPr>
          <a:xfrm>
            <a:off x="67159" y="1250039"/>
            <a:ext cx="3028466" cy="1397911"/>
          </a:xfrm>
          <a:prstGeom prst="rect">
            <a:avLst/>
          </a:prstGeom>
          <a:noFill/>
          <a:ln w="12700">
            <a:solidFill>
              <a:srgbClr val="FFDF20"/>
            </a:solidFill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FILE STRUCTURE</a:t>
            </a: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server.js</a:t>
            </a: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public folder</a:t>
            </a: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HTML+CSS+JS files</a:t>
            </a: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4B7280D-E76C-2845-EC5B-86C27DC40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855CE71D-7E09-1BB5-B04E-1532D2FD731D}"/>
              </a:ext>
            </a:extLst>
          </p:cNvPr>
          <p:cNvSpPr txBox="1"/>
          <p:nvPr/>
        </p:nvSpPr>
        <p:spPr>
          <a:xfrm>
            <a:off x="3614437" y="1250039"/>
            <a:ext cx="8200540" cy="404586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http from 'http';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fs from 'fs';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path from 'path';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{ fileURLToPath } from 'url';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// The absolute path of the server.js file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const __filename = fileURLToPath(import.meta.url);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const __dirname = path.dirname(__filename);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// The public folder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const wwwroot = path.join(__dirname, 'public');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6C881B5B-F4C7-2035-C2C5-C36742E2007C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</p:txBody>
      </p:sp>
    </p:spTree>
    <p:extLst>
      <p:ext uri="{BB962C8B-B14F-4D97-AF65-F5344CB8AC3E}">
        <p14:creationId xmlns:p14="http://schemas.microsoft.com/office/powerpoint/2010/main" val="157178474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DD69F1-CEB0-14FD-FA3A-946146313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EB7D7721-D179-AADE-A630-7A8A3466F9F9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STATIC WEB SERVICE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3D094B7-117D-7A6C-E43B-0AF245097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DEB1143D-042A-1E09-9C29-66304882C5DF}"/>
              </a:ext>
            </a:extLst>
          </p:cNvPr>
          <p:cNvSpPr txBox="1"/>
          <p:nvPr/>
        </p:nvSpPr>
        <p:spPr>
          <a:xfrm>
            <a:off x="3614437" y="1250039"/>
            <a:ext cx="8200540" cy="404586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// Basic MIME type map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const mimeTypes =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'.html': 'text/html',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'.css':  'text/css',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'.js':   'application/javascript',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'.png':  'image/png',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'.jpg':  'image/jpeg',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'.jpeg': 'image/jpeg',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'.gif':  'image/gif',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'.svg':  'image/svg+xml',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'.json': 'application/json'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7A7362BD-5942-C5CE-0DB7-4729EBFC0BF6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</p:txBody>
      </p:sp>
    </p:spTree>
    <p:extLst>
      <p:ext uri="{BB962C8B-B14F-4D97-AF65-F5344CB8AC3E}">
        <p14:creationId xmlns:p14="http://schemas.microsoft.com/office/powerpoint/2010/main" val="1256624125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D96F8B-6462-A5C7-293E-2C67967E3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B1254FA1-643B-C394-B4AE-28500E90E3CB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STATIC WEB SERVICE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998E886-FA0B-ABDD-9BCF-D84644206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6C5B0A90-4668-EF04-6C42-8BE18847CD60}"/>
              </a:ext>
            </a:extLst>
          </p:cNvPr>
          <p:cNvSpPr txBox="1"/>
          <p:nvPr/>
        </p:nvSpPr>
        <p:spPr>
          <a:xfrm>
            <a:off x="1043663" y="1250039"/>
            <a:ext cx="11081178" cy="560796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const server = http.createServer((req, res) =&gt; {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// Default to index.html if root is requested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let filePath = req.url === '/' 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? path.join(wwwroot, 'index.html')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: path.join(wwwroot, req.url);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// Determine MIME content based on file extension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ext = path.extname(filePath);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contentType = mimeTypes[ext] || 'application/octet-stream';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  // Read and send the requested file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fs.readFile(filePath, (err, data) =&gt;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res.writeHead(200, { 'Content-Type': contentType });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res.end(data);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C732B068-C5BA-6EE0-300C-B7A063966508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</p:txBody>
      </p:sp>
    </p:spTree>
    <p:extLst>
      <p:ext uri="{BB962C8B-B14F-4D97-AF65-F5344CB8AC3E}">
        <p14:creationId xmlns:p14="http://schemas.microsoft.com/office/powerpoint/2010/main" val="39188170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D1AC3-F279-CD24-8BFC-1DEC263A9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D76A6F17-9F5E-3B7D-5F60-4B3B6463F729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STATIC WEB SERVICE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F8781BDE-4822-23CE-A7E7-A8AFE7EFBBFC}"/>
              </a:ext>
            </a:extLst>
          </p:cNvPr>
          <p:cNvSpPr txBox="1"/>
          <p:nvPr/>
        </p:nvSpPr>
        <p:spPr>
          <a:xfrm>
            <a:off x="1162050" y="1335764"/>
            <a:ext cx="9772649" cy="5293636"/>
          </a:xfrm>
          <a:prstGeom prst="rect">
            <a:avLst/>
          </a:prstGeom>
          <a:noFill/>
          <a:ln w="12700">
            <a:solidFill>
              <a:srgbClr val="FFDF20"/>
            </a:solidFill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000" b="1" dirty="0">
                <a:solidFill>
                  <a:srgbClr val="FFDF20"/>
                </a:solidFill>
                <a:latin typeface="Consolas" panose="020B0609020204030204" pitchFamily="49" charset="0"/>
              </a:rPr>
              <a:t>// PROBLEM</a:t>
            </a: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// 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This</a:t>
            </a:r>
            <a:r>
              <a:rPr lang="hu-HU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 HTTP</a:t>
            </a:r>
            <a:r>
              <a:rPr lang="en-US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 server </a:t>
            </a:r>
            <a:r>
              <a:rPr lang="hu-HU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is unsafe, hackable with directory traversal:</a:t>
            </a:r>
          </a:p>
          <a:p>
            <a:pPr>
              <a:spcBef>
                <a:spcPts val="18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 net = require('net');</a:t>
            </a:r>
          </a:p>
          <a:p>
            <a:pPr>
              <a:spcBef>
                <a:spcPts val="12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 client =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net.createConnection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({ port: 3000 }, () =&gt; {</a:t>
            </a: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client.write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"GET </a:t>
            </a:r>
            <a:r>
              <a:rPr lang="en-US" sz="2000" dirty="0">
                <a:solidFill>
                  <a:srgbClr val="FF6D6D"/>
                </a:solidFill>
                <a:latin typeface="Consolas" panose="020B0609020204030204" pitchFamily="49" charset="0"/>
              </a:rPr>
              <a:t>/../</a:t>
            </a:r>
            <a:r>
              <a:rPr lang="en-US" sz="2000" dirty="0" err="1">
                <a:solidFill>
                  <a:srgbClr val="FF6D6D"/>
                </a:solidFill>
                <a:latin typeface="Consolas" panose="020B0609020204030204" pitchFamily="49" charset="0"/>
              </a:rPr>
              <a:t>package.json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HTTP/1.1\r\n"</a:t>
            </a: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+     </a:t>
            </a:r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// HTTP REQUEST</a:t>
            </a:r>
            <a:endParaRPr lang="en-US" sz="2000" dirty="0">
              <a:solidFill>
                <a:srgbClr val="FFDF20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"Host: localhost\r\n"</a:t>
            </a: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+                   </a:t>
            </a:r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// HTTP HEADER</a:t>
            </a:r>
            <a:endParaRPr lang="en-US" sz="2000" dirty="0">
              <a:solidFill>
                <a:srgbClr val="FFDF20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"\r\n"</a:t>
            </a: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);                                  </a:t>
            </a:r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// END OF HEADERS</a:t>
            </a:r>
            <a:endParaRPr lang="en-US" sz="2000" dirty="0">
              <a:solidFill>
                <a:srgbClr val="FFDF20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});</a:t>
            </a:r>
          </a:p>
          <a:p>
            <a:pPr>
              <a:spcBef>
                <a:spcPts val="12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v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oid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client.on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('data', data =&gt; {</a:t>
            </a: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console.log("SERVER RESPONSE:\n" +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data.toString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chemeClr val="bg1"/>
                </a:solidFill>
                <a:latin typeface="Consolas" panose="020B0609020204030204" pitchFamily="49" charset="0"/>
              </a:rPr>
              <a:t>client.end</a:t>
            </a: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600"/>
              </a:spcBef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});</a:t>
            </a:r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A9368CD-C521-043F-1DF7-FBFAB2096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2250F89A-8803-4FD5-09B8-0568AC5A5CE1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</p:txBody>
      </p:sp>
    </p:spTree>
    <p:extLst>
      <p:ext uri="{BB962C8B-B14F-4D97-AF65-F5344CB8AC3E}">
        <p14:creationId xmlns:p14="http://schemas.microsoft.com/office/powerpoint/2010/main" val="184593646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91518-1FCC-3EAB-EC0E-3F4760BCB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086903A3-6374-107B-69A8-3B60484CF26D}"/>
              </a:ext>
            </a:extLst>
          </p:cNvPr>
          <p:cNvSpPr txBox="1"/>
          <p:nvPr/>
        </p:nvSpPr>
        <p:spPr>
          <a:xfrm>
            <a:off x="2908155" y="68295"/>
            <a:ext cx="63757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PREVENT DIRECTORY TRAVERSAL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4865A5AE-8672-526C-AF50-F36565093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83B2CDB6-B12E-ED34-9978-DA581566B5C6}"/>
              </a:ext>
            </a:extLst>
          </p:cNvPr>
          <p:cNvSpPr txBox="1"/>
          <p:nvPr/>
        </p:nvSpPr>
        <p:spPr>
          <a:xfrm>
            <a:off x="1043663" y="1250039"/>
            <a:ext cx="11081178" cy="560796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 server = http.createServer((req, res) =&gt; {</a:t>
            </a:r>
          </a:p>
          <a:p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// Default to index.html if root is requested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let filePath = req.url === '/' 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? path.join(wwwroot, 'index.html')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: path.join(wwwroot, req.url);</a:t>
            </a:r>
          </a:p>
          <a:p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  // Switch to absolute path to prevent directory traversal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filePath = path.resolve(filePath);</a:t>
            </a:r>
          </a:p>
          <a:p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  // Authorization: serve only from public directory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if (!filePath.startsWith(wwwroot))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res.writeHead(403)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return res.end("Forbidden")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// Determine MIME content based on file extension</a:t>
            </a:r>
          </a:p>
        </p:txBody>
      </p:sp>
      <p:sp>
        <p:nvSpPr>
          <p:cNvPr id="3" name="Bal oldali kapcsos zárójel 2">
            <a:extLst>
              <a:ext uri="{FF2B5EF4-FFF2-40B4-BE49-F238E27FC236}">
                <a16:creationId xmlns:a16="http://schemas.microsoft.com/office/drawing/2014/main" id="{F17930C6-D3BB-2434-8245-8906C5044BE3}"/>
              </a:ext>
            </a:extLst>
          </p:cNvPr>
          <p:cNvSpPr/>
          <p:nvPr/>
        </p:nvSpPr>
        <p:spPr>
          <a:xfrm>
            <a:off x="919838" y="3314700"/>
            <a:ext cx="451762" cy="2638425"/>
          </a:xfrm>
          <a:prstGeom prst="leftBrace">
            <a:avLst>
              <a:gd name="adj1" fmla="val 48393"/>
              <a:gd name="adj2" fmla="val 50000"/>
            </a:avLst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8B2FC55A-A1E5-74D4-6E8A-2EA53DBF96FB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</p:txBody>
      </p:sp>
    </p:spTree>
    <p:extLst>
      <p:ext uri="{BB962C8B-B14F-4D97-AF65-F5344CB8AC3E}">
        <p14:creationId xmlns:p14="http://schemas.microsoft.com/office/powerpoint/2010/main" val="1682958591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720507-D312-A095-D87F-F6F3E7866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BC25970B-3577-3891-92F8-4C1BED522D7D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BASIC ERROR HANDLING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0E2BCCF-E1A3-7CF0-D3E7-0686A78FF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16FBC51B-0321-1EBD-3DB1-D565469E4E04}"/>
              </a:ext>
            </a:extLst>
          </p:cNvPr>
          <p:cNvSpPr txBox="1"/>
          <p:nvPr/>
        </p:nvSpPr>
        <p:spPr>
          <a:xfrm>
            <a:off x="1043663" y="1250039"/>
            <a:ext cx="11081178" cy="560796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  // Read and send the requested file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fs.readFile(filePath, (err, data) =&gt;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    if (err)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if (err.code === 'ENOENT') { </a:t>
            </a:r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// File not found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res.writeHead(404, { 'Content-Type': 'text/plain' });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  return res.end('404 Not Found');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}</a:t>
            </a:r>
          </a:p>
          <a:p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</a:t>
            </a:r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// Other errors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res.writeHead(500, { 'Content-Type': 'text/plain' });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return res.end('500 Internal Server Error');</a:t>
            </a:r>
          </a:p>
          <a:p>
            <a:r>
              <a:rPr lang="hu-HU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res.writeHead(200, { 'Content-Type': contentType });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res.end(data);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});</a:t>
            </a:r>
          </a:p>
        </p:txBody>
      </p:sp>
      <p:sp>
        <p:nvSpPr>
          <p:cNvPr id="3" name="Bal oldali kapcsos zárójel 2">
            <a:extLst>
              <a:ext uri="{FF2B5EF4-FFF2-40B4-BE49-F238E27FC236}">
                <a16:creationId xmlns:a16="http://schemas.microsoft.com/office/drawing/2014/main" id="{63A76D64-D297-F0BA-56B5-A14E1E32509D}"/>
              </a:ext>
            </a:extLst>
          </p:cNvPr>
          <p:cNvSpPr/>
          <p:nvPr/>
        </p:nvSpPr>
        <p:spPr>
          <a:xfrm>
            <a:off x="1205588" y="1962150"/>
            <a:ext cx="451762" cy="3228975"/>
          </a:xfrm>
          <a:prstGeom prst="leftBrace">
            <a:avLst>
              <a:gd name="adj1" fmla="val 48393"/>
              <a:gd name="adj2" fmla="val 50000"/>
            </a:avLst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hlinkClick r:id="rId4"/>
            <a:extLst>
              <a:ext uri="{FF2B5EF4-FFF2-40B4-BE49-F238E27FC236}">
                <a16:creationId xmlns:a16="http://schemas.microsoft.com/office/drawing/2014/main" id="{8CA45D21-00C6-8F13-F799-B6FEC5939A6D}"/>
              </a:ext>
            </a:extLst>
          </p:cNvPr>
          <p:cNvSpPr/>
          <p:nvPr/>
        </p:nvSpPr>
        <p:spPr>
          <a:xfrm>
            <a:off x="5390665" y="6246780"/>
            <a:ext cx="6734176" cy="542925"/>
          </a:xfrm>
          <a:prstGeom prst="roundRect">
            <a:avLst>
              <a:gd name="adj" fmla="val 46839"/>
            </a:avLst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dirty="0">
                <a:solidFill>
                  <a:srgbClr val="00B0F0"/>
                </a:solidFill>
                <a:latin typeface="Arial Rounded MT Bold" panose="020F0704030504030204" pitchFamily="34" charset="0"/>
              </a:rPr>
              <a:t>https://nodejs.org/api/errors.html#common-system-errors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F5DD1DAF-6C90-6236-D7A8-6834678DB1BC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</p:txBody>
      </p:sp>
    </p:spTree>
    <p:extLst>
      <p:ext uri="{BB962C8B-B14F-4D97-AF65-F5344CB8AC3E}">
        <p14:creationId xmlns:p14="http://schemas.microsoft.com/office/powerpoint/2010/main" val="4246580523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E1203F-54A9-4820-9D13-0C659F4A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09377196-03B7-9042-B51E-FAA959F8D6FE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LAYERS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17234D85-829C-88E5-EDC3-6658EB189E7F}"/>
              </a:ext>
            </a:extLst>
          </p:cNvPr>
          <p:cNvSpPr txBox="1"/>
          <p:nvPr/>
        </p:nvSpPr>
        <p:spPr>
          <a:xfrm>
            <a:off x="1043663" y="1070685"/>
            <a:ext cx="11062611" cy="571901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400" b="1">
                <a:solidFill>
                  <a:srgbClr val="FFDF20"/>
                </a:solidFill>
              </a:rPr>
              <a:t>Client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</a:t>
            </a:r>
            <a:r>
              <a:rPr lang="en-US" sz="2400" b="1">
                <a:solidFill>
                  <a:schemeClr val="bg1"/>
                </a:solidFill>
              </a:rPr>
              <a:t>→ Server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Logging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</a:t>
            </a:r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→ Configuration Layer</a:t>
            </a:r>
            <a:endParaRPr lang="hu-HU" sz="2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Auth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entication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 Layer 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Schema Validation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</a:t>
            </a:r>
            <a:r>
              <a:rPr lang="en-US" sz="2400" b="1">
                <a:solidFill>
                  <a:schemeClr val="bg1"/>
                </a:solidFill>
              </a:rPr>
              <a:t>→ Middleware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en-US" sz="2400" b="1">
                <a:solidFill>
                  <a:schemeClr val="bg1"/>
                </a:solidFill>
              </a:rPr>
              <a:t>→ Routing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</a:t>
            </a:r>
            <a:r>
              <a:rPr lang="en-US" sz="2400" b="1">
                <a:solidFill>
                  <a:schemeClr val="bg1"/>
                </a:solidFill>
              </a:rPr>
              <a:t>→ Controller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Domain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</a:t>
            </a:r>
            <a:r>
              <a:rPr lang="en-US" sz="2400" b="1">
                <a:solidFill>
                  <a:schemeClr val="bg1"/>
                </a:solidFill>
              </a:rPr>
              <a:t>→ Service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</a:t>
            </a:r>
            <a:r>
              <a:rPr lang="en-US" sz="2400" b="1">
                <a:solidFill>
                  <a:schemeClr val="bg1"/>
                </a:solidFill>
              </a:rPr>
              <a:t>→ Repository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</a:t>
            </a:r>
            <a:r>
              <a:rPr lang="en-US" sz="2400" b="1">
                <a:solidFill>
                  <a:schemeClr val="bg1"/>
                </a:solidFill>
              </a:rPr>
              <a:t>→ Data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</a:t>
            </a:r>
            <a:r>
              <a:rPr lang="en-US" sz="2400" b="1">
                <a:solidFill>
                  <a:schemeClr val="bg1"/>
                </a:solidFill>
              </a:rPr>
              <a:t>→ Response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Global Error Handler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8B1B3FA-9295-9922-9B0F-252360448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2F4B4B9B-D498-6EE3-1747-1E4A5382C1F3}"/>
              </a:ext>
            </a:extLst>
          </p:cNvPr>
          <p:cNvSpPr/>
          <p:nvPr/>
        </p:nvSpPr>
        <p:spPr>
          <a:xfrm>
            <a:off x="1152525" y="1477204"/>
            <a:ext cx="3552825" cy="3810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6551531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4ABE4A-2D44-EFC5-CDFA-4DA89D28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3B7E6CD5-6DBD-A06D-2D2D-6E3EA6878A35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LAYERS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3A145C40-A9E5-B166-605E-8CB98DCCC13B}"/>
              </a:ext>
            </a:extLst>
          </p:cNvPr>
          <p:cNvSpPr txBox="1"/>
          <p:nvPr/>
        </p:nvSpPr>
        <p:spPr>
          <a:xfrm>
            <a:off x="1043663" y="1070685"/>
            <a:ext cx="11062611" cy="571901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400" b="1">
                <a:solidFill>
                  <a:srgbClr val="FFDF20"/>
                </a:solidFill>
              </a:rPr>
              <a:t>Client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Server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Logging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</a:t>
            </a:r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→ Configuration Layer</a:t>
            </a:r>
            <a:endParaRPr lang="hu-HU" sz="2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Auth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entication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 Layer 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Schema Validation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</a:t>
            </a:r>
            <a:r>
              <a:rPr lang="en-US" sz="2400" b="1">
                <a:solidFill>
                  <a:schemeClr val="bg1"/>
                </a:solidFill>
              </a:rPr>
              <a:t>→ Middleware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en-US" sz="2400" b="1">
                <a:solidFill>
                  <a:schemeClr val="bg1"/>
                </a:solidFill>
              </a:rPr>
              <a:t>→ Routing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</a:t>
            </a:r>
            <a:r>
              <a:rPr lang="en-US" sz="2400" b="1">
                <a:solidFill>
                  <a:schemeClr val="bg1"/>
                </a:solidFill>
              </a:rPr>
              <a:t>→ Controller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Domain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</a:t>
            </a:r>
            <a:r>
              <a:rPr lang="en-US" sz="2400" b="1">
                <a:solidFill>
                  <a:schemeClr val="bg1"/>
                </a:solidFill>
              </a:rPr>
              <a:t>→ Service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</a:t>
            </a:r>
            <a:r>
              <a:rPr lang="en-US" sz="2400" b="1">
                <a:solidFill>
                  <a:schemeClr val="bg1"/>
                </a:solidFill>
              </a:rPr>
              <a:t>→ Repository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</a:t>
            </a:r>
            <a:r>
              <a:rPr lang="en-US" sz="2400" b="1">
                <a:solidFill>
                  <a:schemeClr val="bg1"/>
                </a:solidFill>
              </a:rPr>
              <a:t>→ Data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</a:t>
            </a:r>
            <a:r>
              <a:rPr lang="en-US" sz="2400" b="1">
                <a:solidFill>
                  <a:schemeClr val="bg1"/>
                </a:solidFill>
              </a:rPr>
              <a:t>→ Response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Global Error Handler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588DD69-D087-C9F9-685F-6C4EC34FE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E6CF1AA8-E8CC-D446-5CBC-44FBA44EF6AB}"/>
              </a:ext>
            </a:extLst>
          </p:cNvPr>
          <p:cNvSpPr/>
          <p:nvPr/>
        </p:nvSpPr>
        <p:spPr>
          <a:xfrm>
            <a:off x="4400550" y="3657600"/>
            <a:ext cx="3552825" cy="3810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93611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531803-028C-6E42-0789-56C0C7E9C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D9841A22-D4EE-CBFB-C842-A33E45FFA66E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SIMPLE API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5E42986-DDD8-F5B7-E77E-31D3E600C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AB73E68E-283C-59FA-2297-B92AFC872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812" y="2509709"/>
            <a:ext cx="4296375" cy="1838582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5B1B319C-25D5-A395-024F-EAA0E6EFEE57}"/>
              </a:ext>
            </a:extLst>
          </p:cNvPr>
          <p:cNvSpPr txBox="1"/>
          <p:nvPr/>
        </p:nvSpPr>
        <p:spPr>
          <a:xfrm>
            <a:off x="2886074" y="4956768"/>
            <a:ext cx="6096000" cy="87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Say Hello!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1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"time"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1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Ask the time!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1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1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776973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9359B-FB5C-9FD7-1444-9015B9C8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E44F3616-09DF-2E80-9860-1110164B5EFE}"/>
              </a:ext>
            </a:extLst>
          </p:cNvPr>
          <p:cNvSpPr txBox="1"/>
          <p:nvPr/>
        </p:nvSpPr>
        <p:spPr>
          <a:xfrm>
            <a:off x="1793527" y="68295"/>
            <a:ext cx="860498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~ AJAX (Asynchronous JavaScript and … JSON!)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4E37E64-594C-3BA2-F219-578E795A7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319C401F-3662-C258-116C-C034A255E787}"/>
              </a:ext>
            </a:extLst>
          </p:cNvPr>
          <p:cNvSpPr txBox="1"/>
          <p:nvPr/>
        </p:nvSpPr>
        <p:spPr>
          <a:xfrm>
            <a:off x="1043663" y="1250039"/>
            <a:ext cx="11081178" cy="515076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 dirty="0">
                <a:solidFill>
                  <a:srgbClr val="FFDF20"/>
                </a:solidFill>
                <a:latin typeface="Consolas" panose="020B0609020204030204" pitchFamily="49" charset="0"/>
              </a:rPr>
              <a:t>// public/script.js</a:t>
            </a:r>
          </a:p>
          <a:p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// HELLO button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 btnHello = document.getElementById('hello');</a:t>
            </a:r>
          </a:p>
          <a:p>
            <a:pPr>
              <a:spcBef>
                <a:spcPts val="12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btnHello.addEventListener('click', </a:t>
            </a:r>
            <a:r>
              <a:rPr lang="hu-HU" sz="2000" b="1" dirty="0">
                <a:solidFill>
                  <a:srgbClr val="FFDF20"/>
                </a:solidFill>
                <a:latin typeface="Consolas" panose="020B0609020204030204" pitchFamily="49" charset="0"/>
              </a:rPr>
              <a:t>async</a:t>
            </a: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() =&gt; {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try {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const res = </a:t>
            </a:r>
            <a:r>
              <a:rPr lang="hu-HU" sz="2000" b="1" dirty="0">
                <a:solidFill>
                  <a:srgbClr val="FFDF20"/>
                </a:solidFill>
                <a:latin typeface="Consolas" panose="020B0609020204030204" pitchFamily="49" charset="0"/>
              </a:rPr>
              <a:t>await</a:t>
            </a: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fetch('/api/hello'); </a:t>
            </a:r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// resolves when the header sent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const data = </a:t>
            </a:r>
            <a:r>
              <a:rPr lang="hu-HU" sz="2000" b="1" dirty="0">
                <a:solidFill>
                  <a:srgbClr val="FFDF20"/>
                </a:solidFill>
                <a:latin typeface="Consolas" panose="020B0609020204030204" pitchFamily="49" charset="0"/>
              </a:rPr>
              <a:t>await</a:t>
            </a: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res.json(); </a:t>
            </a:r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// resolves when the body sent and parsed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alert(data.message);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 catch (err) {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alert('Error calling /api/hello');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4075563251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122FF9-D50C-5C2D-A895-26C12B1CE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D8D97E7F-669C-E5C2-8B2A-DB6350B64FDD}"/>
              </a:ext>
            </a:extLst>
          </p:cNvPr>
          <p:cNvSpPr txBox="1"/>
          <p:nvPr/>
        </p:nvSpPr>
        <p:spPr>
          <a:xfrm>
            <a:off x="1793522" y="68295"/>
            <a:ext cx="860498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~ AJAX (Asynchronous JavaScript and … JSON!)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B0E7EC5-0014-9656-402F-5CEF39934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5155C1B9-CAA2-D367-A401-8AF4098BE688}"/>
              </a:ext>
            </a:extLst>
          </p:cNvPr>
          <p:cNvSpPr txBox="1"/>
          <p:nvPr/>
        </p:nvSpPr>
        <p:spPr>
          <a:xfrm>
            <a:off x="1043663" y="1250039"/>
            <a:ext cx="11081178" cy="509361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 dirty="0">
                <a:solidFill>
                  <a:srgbClr val="FFDF20"/>
                </a:solidFill>
                <a:latin typeface="Consolas" panose="020B0609020204030204" pitchFamily="49" charset="0"/>
              </a:rPr>
              <a:t>// public/script.js</a:t>
            </a:r>
          </a:p>
          <a:p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// TIME button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 btnTime = document.getElementById('time');</a:t>
            </a:r>
          </a:p>
          <a:p>
            <a:pPr>
              <a:spcBef>
                <a:spcPts val="12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btnTime.addEventListener('click', </a:t>
            </a:r>
            <a:r>
              <a:rPr lang="hu-HU" sz="2000" b="1" dirty="0">
                <a:solidFill>
                  <a:srgbClr val="FFDF20"/>
                </a:solidFill>
                <a:latin typeface="Consolas" panose="020B0609020204030204" pitchFamily="49" charset="0"/>
              </a:rPr>
              <a:t>async</a:t>
            </a: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() =&gt; {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try {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const res = </a:t>
            </a:r>
            <a:r>
              <a:rPr lang="hu-HU" sz="2000" b="1" dirty="0">
                <a:solidFill>
                  <a:srgbClr val="FFDF20"/>
                </a:solidFill>
                <a:latin typeface="Consolas" panose="020B0609020204030204" pitchFamily="49" charset="0"/>
              </a:rPr>
              <a:t>await</a:t>
            </a: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fetch('/api/time'); </a:t>
            </a:r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// resolves when the header sent</a:t>
            </a:r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const data = </a:t>
            </a:r>
            <a:r>
              <a:rPr lang="hu-HU" sz="2000" b="1" dirty="0">
                <a:solidFill>
                  <a:srgbClr val="FFDF20"/>
                </a:solidFill>
                <a:latin typeface="Consolas" panose="020B0609020204030204" pitchFamily="49" charset="0"/>
              </a:rPr>
              <a:t>await</a:t>
            </a: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res.json();</a:t>
            </a:r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 // resolves when the body sent and parsed</a:t>
            </a:r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alert(data.time);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 catch (err) {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alert('Error calling /api/time');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});</a:t>
            </a:r>
            <a:endParaRPr lang="hu-HU" sz="2000" dirty="0">
              <a:solidFill>
                <a:srgbClr val="FFDF2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559414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FC7524-796A-F151-EDA5-7E503FB03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AC7C414C-F46A-E033-ADE5-F4B865DE5A03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SIMPLE API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78E70D6-6AF9-1270-732F-6ACE7D673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864E3EDC-CFEE-8BB7-9486-BF093814FD2F}"/>
              </a:ext>
            </a:extLst>
          </p:cNvPr>
          <p:cNvSpPr txBox="1"/>
          <p:nvPr/>
        </p:nvSpPr>
        <p:spPr>
          <a:xfrm>
            <a:off x="1043663" y="1250039"/>
            <a:ext cx="11081178" cy="560796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 server = http.createServer((req, res) =&gt; {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// ROUTING LAYER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if (req.url.startsWith('/api/')) {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if (req.url === '/api/hello')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res.writeHead(200, { 'Content-Type': 'application/json' });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return res.end(JSON.stringify({ message: "Hello from API" }));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if (req.url === '/api/time')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const now = new Date().toISOString();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res.writeHead(200, { 'Content-Type': 'application/json' });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return res.end(JSON.stringify({ time: now }));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res.writeHead(404, { 'Content-Type': 'application/json' });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return res.end(JSON.stringify({ error: "API endpoint not found" }));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1200"/>
              </a:spcBef>
            </a:pPr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  // STATIC WEB SERVICE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679DEDD2-37F3-81B6-D7BD-BC0961A11C63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</p:txBody>
      </p:sp>
    </p:spTree>
    <p:extLst>
      <p:ext uri="{BB962C8B-B14F-4D97-AF65-F5344CB8AC3E}">
        <p14:creationId xmlns:p14="http://schemas.microsoft.com/office/powerpoint/2010/main" val="2810443030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4F816F-3663-406E-57E1-B16F6E9EB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FCE97C07-D8D0-5C4D-5B92-D24B3BBFEC23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ROUTING TABLE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3DAEB4D-2802-CF9B-E0D8-7F1DA76C8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DAC5872E-7786-EF3F-AFDA-9EC99B0A0E06}"/>
              </a:ext>
            </a:extLst>
          </p:cNvPr>
          <p:cNvSpPr txBox="1"/>
          <p:nvPr/>
        </p:nvSpPr>
        <p:spPr>
          <a:xfrm>
            <a:off x="1043663" y="1250039"/>
            <a:ext cx="11081178" cy="560796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// ROUTE MAP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 apiRoutes =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'GET /api/hello': (req, res) =&gt;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res.writeHead(200, { 'Content-Type': 'application/json' });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res.end(JSON.stringify({ message: "Hello from API" }));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},</a:t>
            </a:r>
          </a:p>
          <a:p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'GET /api/time': (req, res) =&gt;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const now = new Date().toISOString();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res.writeHead(200, { 'Content-Type': 'application/json' });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res.end(JSON.stringify({ time: now }));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};</a:t>
            </a:r>
          </a:p>
          <a:p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// CREATE SERVER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00603CD6-C9DB-3092-3EEB-2877ED190C33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</p:txBody>
      </p:sp>
    </p:spTree>
    <p:extLst>
      <p:ext uri="{BB962C8B-B14F-4D97-AF65-F5344CB8AC3E}">
        <p14:creationId xmlns:p14="http://schemas.microsoft.com/office/powerpoint/2010/main" val="3537734654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D0405-380C-10BF-32DC-908205D57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F122E6AE-D88A-6EE8-832B-5DF1504C96B5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ROUTING TABLE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1B6005F-981D-60F0-2485-CF4A48261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9ADFD6F7-4193-657E-04D9-EB8547198697}"/>
              </a:ext>
            </a:extLst>
          </p:cNvPr>
          <p:cNvSpPr txBox="1"/>
          <p:nvPr/>
        </p:nvSpPr>
        <p:spPr>
          <a:xfrm>
            <a:off x="1043663" y="1250039"/>
            <a:ext cx="11081178" cy="560796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// CREATE SERVER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 server = http.createServer((req, res) =&gt;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  // ROUTING LAYER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if (req.url.startsWith('/api/'))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const key = req.method + ' ' + req.url;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const handler = apiRoutes[key];</a:t>
            </a:r>
          </a:p>
          <a:p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if (handler)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return handler(req, res);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res.writeHead(404, { 'Content-Type': 'application/json' });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return res.end(JSON.stringify({ error: "API endpoint not found" }));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// STATIC WEB SERVICE</a:t>
            </a:r>
          </a:p>
        </p:txBody>
      </p:sp>
      <p:sp>
        <p:nvSpPr>
          <p:cNvPr id="7" name="Bal oldali kapcsos zárójel 6">
            <a:extLst>
              <a:ext uri="{FF2B5EF4-FFF2-40B4-BE49-F238E27FC236}">
                <a16:creationId xmlns:a16="http://schemas.microsoft.com/office/drawing/2014/main" id="{0C94F0B7-9E29-051E-3506-78AB8FAB9D13}"/>
              </a:ext>
            </a:extLst>
          </p:cNvPr>
          <p:cNvSpPr/>
          <p:nvPr/>
        </p:nvSpPr>
        <p:spPr>
          <a:xfrm>
            <a:off x="1119863" y="2924175"/>
            <a:ext cx="451762" cy="2571750"/>
          </a:xfrm>
          <a:prstGeom prst="leftBrace">
            <a:avLst>
              <a:gd name="adj1" fmla="val 48393"/>
              <a:gd name="adj2" fmla="val 50000"/>
            </a:avLst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601A9245-F6D8-664B-3DAC-8032A91EA0B9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</p:txBody>
      </p:sp>
    </p:spTree>
    <p:extLst>
      <p:ext uri="{BB962C8B-B14F-4D97-AF65-F5344CB8AC3E}">
        <p14:creationId xmlns:p14="http://schemas.microsoft.com/office/powerpoint/2010/main" val="2588651416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ACCCFF-DBA4-2D89-87D1-D6665D3C4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6D8D4E43-ED44-9203-50FF-EFEE3B4372CF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EXTRACT API HANDLER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AF2D341-2A9D-A49E-C52A-32126C1BB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1A89F5B8-B202-94FA-4AFE-523CB3D32803}"/>
              </a:ext>
            </a:extLst>
          </p:cNvPr>
          <p:cNvSpPr txBox="1"/>
          <p:nvPr/>
        </p:nvSpPr>
        <p:spPr>
          <a:xfrm>
            <a:off x="1043663" y="1250039"/>
            <a:ext cx="11081178" cy="560796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function handleApiRequest(req, res)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const key = req.method + ' ' + req.url;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const handler = apiRoutes[key];</a:t>
            </a:r>
          </a:p>
          <a:p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if (handler)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return handler(req, res);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res.writeHead(404, { 'Content-Type': 'application/json' });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res.end(JSON.stringify({ error: "API endpoint not found" }));</a:t>
            </a:r>
          </a:p>
          <a:p>
            <a:r>
              <a:rPr lang="hu-HU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const server = http.createServer((req, res) =&gt;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  // API routing layer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if (req.url.startsWith('/api/'))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hu-HU" sz="2000" dirty="0">
                <a:solidFill>
                  <a:srgbClr val="FFDF20"/>
                </a:solidFill>
                <a:latin typeface="Consolas" panose="020B0609020204030204" pitchFamily="49" charset="0"/>
              </a:rPr>
              <a:t>return handleApiRequest(req, res);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</p:txBody>
      </p:sp>
      <p:sp>
        <p:nvSpPr>
          <p:cNvPr id="3" name="Bal oldali kapcsos zárójel 2">
            <a:extLst>
              <a:ext uri="{FF2B5EF4-FFF2-40B4-BE49-F238E27FC236}">
                <a16:creationId xmlns:a16="http://schemas.microsoft.com/office/drawing/2014/main" id="{7EC2021B-5628-87CF-9661-935E0A982D16}"/>
              </a:ext>
            </a:extLst>
          </p:cNvPr>
          <p:cNvSpPr/>
          <p:nvPr/>
        </p:nvSpPr>
        <p:spPr>
          <a:xfrm>
            <a:off x="865407" y="1781175"/>
            <a:ext cx="451762" cy="2571750"/>
          </a:xfrm>
          <a:prstGeom prst="leftBrace">
            <a:avLst>
              <a:gd name="adj1" fmla="val 48393"/>
              <a:gd name="adj2" fmla="val 50000"/>
            </a:avLst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5667DAE9-4AB0-5BBC-40ED-36B33071CE04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</p:txBody>
      </p:sp>
    </p:spTree>
    <p:extLst>
      <p:ext uri="{BB962C8B-B14F-4D97-AF65-F5344CB8AC3E}">
        <p14:creationId xmlns:p14="http://schemas.microsoft.com/office/powerpoint/2010/main" val="844872556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1BB25E-F6F8-6044-E27F-DA8F28870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4D73D6B6-8CE3-B8F3-BF7E-BC41649F3B2C}"/>
              </a:ext>
            </a:extLst>
          </p:cNvPr>
          <p:cNvSpPr txBox="1"/>
          <p:nvPr/>
        </p:nvSpPr>
        <p:spPr>
          <a:xfrm>
            <a:off x="3528228" y="68295"/>
            <a:ext cx="51355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SEPARATE ROUTING TABLE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C7A44B5-4027-346A-2C39-1762C775C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9ED3154F-0790-3D91-EFD0-D75C9531D851}"/>
              </a:ext>
            </a:extLst>
          </p:cNvPr>
          <p:cNvSpPr txBox="1"/>
          <p:nvPr/>
        </p:nvSpPr>
        <p:spPr>
          <a:xfrm>
            <a:off x="1043663" y="1250039"/>
            <a:ext cx="11081178" cy="560796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 dirty="0">
                <a:solidFill>
                  <a:srgbClr val="FFDF20"/>
                </a:solidFill>
                <a:latin typeface="Consolas" panose="020B0609020204030204" pitchFamily="49" charset="0"/>
              </a:rPr>
              <a:t>// routes/apiRoutes.js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 apiRoutes =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'GET /api/hello': (req, res) =&gt;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res.writeHead(200, { 'Content-Type': 'application/json' });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res.end(JSON.stringify({ message: "Hello from API" }));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},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'GET /api/time': (req, res) =&gt;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const now = new Date().toISOString();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res.writeHead(200, { 'Content-Type': 'application/json' });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res.end(JSON.stringify({ time: now }));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spcAft>
                <a:spcPts val="1800"/>
              </a:spcAft>
            </a:pPr>
            <a:r>
              <a:rPr lang="hu-HU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export default apiRoutes;</a:t>
            </a:r>
          </a:p>
          <a:p>
            <a:r>
              <a:rPr lang="hu-HU" sz="2000" b="1" dirty="0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import apiRoutes from './routes/apiRoutes.js';</a:t>
            </a:r>
          </a:p>
        </p:txBody>
      </p:sp>
      <p:sp>
        <p:nvSpPr>
          <p:cNvPr id="3" name="Bal oldali kapcsos zárójel 2">
            <a:extLst>
              <a:ext uri="{FF2B5EF4-FFF2-40B4-BE49-F238E27FC236}">
                <a16:creationId xmlns:a16="http://schemas.microsoft.com/office/drawing/2014/main" id="{750A0402-C2DA-44BB-5A4F-0DE79CB1C6C4}"/>
              </a:ext>
            </a:extLst>
          </p:cNvPr>
          <p:cNvSpPr/>
          <p:nvPr/>
        </p:nvSpPr>
        <p:spPr>
          <a:xfrm>
            <a:off x="591901" y="1685925"/>
            <a:ext cx="451762" cy="3922036"/>
          </a:xfrm>
          <a:prstGeom prst="leftBrace">
            <a:avLst>
              <a:gd name="adj1" fmla="val 48393"/>
              <a:gd name="adj2" fmla="val 50000"/>
            </a:avLst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4638749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27F497-33E2-017F-D24E-4686C46C7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1F52A0F7-1CBB-68C0-F0A3-90AED2720C01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LAYERS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06308C22-AC0C-9404-0F54-12E1DFA06979}"/>
              </a:ext>
            </a:extLst>
          </p:cNvPr>
          <p:cNvSpPr txBox="1"/>
          <p:nvPr/>
        </p:nvSpPr>
        <p:spPr>
          <a:xfrm>
            <a:off x="1043663" y="1070685"/>
            <a:ext cx="11062611" cy="571901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400" b="1">
                <a:solidFill>
                  <a:srgbClr val="FFDF20"/>
                </a:solidFill>
              </a:rPr>
              <a:t>Client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Server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Logging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</a:t>
            </a:r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→ Configuration Layer</a:t>
            </a:r>
            <a:endParaRPr lang="hu-HU" sz="2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Auth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entication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 Layer 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Schema Validation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</a:t>
            </a:r>
            <a:r>
              <a:rPr lang="en-US" sz="2400" b="1">
                <a:solidFill>
                  <a:schemeClr val="bg1"/>
                </a:solidFill>
              </a:rPr>
              <a:t>→ Middleware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en-US" sz="2400" b="1">
                <a:solidFill>
                  <a:schemeClr val="bg1"/>
                </a:solidFill>
              </a:rPr>
              <a:t>→ Routing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</a:t>
            </a:r>
            <a:r>
              <a:rPr lang="en-US" sz="2400" b="1">
                <a:solidFill>
                  <a:schemeClr val="bg1"/>
                </a:solidFill>
              </a:rPr>
              <a:t>→ Controller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Domain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</a:t>
            </a:r>
            <a:r>
              <a:rPr lang="en-US" sz="2400" b="1">
                <a:solidFill>
                  <a:schemeClr val="bg1"/>
                </a:solidFill>
              </a:rPr>
              <a:t>→ Service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</a:t>
            </a:r>
            <a:r>
              <a:rPr lang="en-US" sz="2400" b="1">
                <a:solidFill>
                  <a:schemeClr val="bg1"/>
                </a:solidFill>
              </a:rPr>
              <a:t>→ Repository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</a:t>
            </a:r>
            <a:r>
              <a:rPr lang="en-US" sz="2400" b="1">
                <a:solidFill>
                  <a:schemeClr val="bg1"/>
                </a:solidFill>
              </a:rPr>
              <a:t>→ Data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</a:t>
            </a:r>
            <a:r>
              <a:rPr lang="en-US" sz="2400" b="1">
                <a:solidFill>
                  <a:schemeClr val="bg1"/>
                </a:solidFill>
              </a:rPr>
              <a:t>→ Response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Global Error Handler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C6D8778-29BA-60A5-78EC-F41D455F1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B5547D5A-8B19-E83E-E615-8674793194FD}"/>
              </a:ext>
            </a:extLst>
          </p:cNvPr>
          <p:cNvSpPr/>
          <p:nvPr/>
        </p:nvSpPr>
        <p:spPr>
          <a:xfrm>
            <a:off x="4400550" y="3657600"/>
            <a:ext cx="3552825" cy="3810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39815058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EED03-5E09-1203-3F27-2C7DB8E36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133C84FF-27DF-30DF-5E70-1BBE09E34833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LAYERS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3F007985-A451-B74B-3AF4-D8797A22A69D}"/>
              </a:ext>
            </a:extLst>
          </p:cNvPr>
          <p:cNvSpPr txBox="1"/>
          <p:nvPr/>
        </p:nvSpPr>
        <p:spPr>
          <a:xfrm>
            <a:off x="1043663" y="1070685"/>
            <a:ext cx="11062611" cy="571901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400" b="1">
                <a:solidFill>
                  <a:srgbClr val="FFDF20"/>
                </a:solidFill>
              </a:rPr>
              <a:t>Client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Server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Logging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</a:t>
            </a:r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→ Configuration Layer</a:t>
            </a:r>
            <a:endParaRPr lang="hu-HU" sz="2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Auth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entication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 Layer 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Schema Validation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</a:t>
            </a:r>
            <a:r>
              <a:rPr lang="en-US" sz="2400" b="1">
                <a:solidFill>
                  <a:schemeClr val="bg1"/>
                </a:solidFill>
              </a:rPr>
              <a:t>→ Middleware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en-US" sz="2400" b="1">
                <a:solidFill>
                  <a:srgbClr val="FFDF20"/>
                </a:solidFill>
              </a:rPr>
              <a:t>→ Routing Layer 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</a:t>
            </a:r>
            <a:r>
              <a:rPr lang="en-US" sz="2400" b="1">
                <a:solidFill>
                  <a:schemeClr val="bg1"/>
                </a:solidFill>
              </a:rPr>
              <a:t>→ Controller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Domain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</a:t>
            </a:r>
            <a:r>
              <a:rPr lang="en-US" sz="2400" b="1">
                <a:solidFill>
                  <a:schemeClr val="bg1"/>
                </a:solidFill>
              </a:rPr>
              <a:t>→ Service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</a:t>
            </a:r>
            <a:r>
              <a:rPr lang="en-US" sz="2400" b="1">
                <a:solidFill>
                  <a:schemeClr val="bg1"/>
                </a:solidFill>
              </a:rPr>
              <a:t>→ Repository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</a:t>
            </a:r>
            <a:r>
              <a:rPr lang="en-US" sz="2400" b="1">
                <a:solidFill>
                  <a:schemeClr val="bg1"/>
                </a:solidFill>
              </a:rPr>
              <a:t>→ Data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</a:t>
            </a:r>
            <a:r>
              <a:rPr lang="en-US" sz="2400" b="1">
                <a:solidFill>
                  <a:schemeClr val="bg1"/>
                </a:solidFill>
              </a:rPr>
              <a:t>→ Response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Global Error Handler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4CC96AF-EBF8-705D-B778-538D730B1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280B98C4-6DE4-E35A-3CBF-F7AE3F7E2700}"/>
              </a:ext>
            </a:extLst>
          </p:cNvPr>
          <p:cNvSpPr/>
          <p:nvPr/>
        </p:nvSpPr>
        <p:spPr>
          <a:xfrm>
            <a:off x="4914900" y="4038600"/>
            <a:ext cx="3552825" cy="3810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8246CED5-ABA3-4D78-AD1D-B32C8A8EE196}"/>
              </a:ext>
            </a:extLst>
          </p:cNvPr>
          <p:cNvSpPr txBox="1"/>
          <p:nvPr/>
        </p:nvSpPr>
        <p:spPr>
          <a:xfrm>
            <a:off x="180975" y="5213009"/>
            <a:ext cx="6267450" cy="1453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hu-HU" b="1" kern="10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hu-HU" sz="1800" b="1" kern="10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controller module contains</a:t>
            </a:r>
            <a:br>
              <a:rPr lang="hu-HU" b="1" kern="10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hu-HU" sz="1800" b="1" kern="10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business logic for a specific api endpoint.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hu-HU" sz="1800" b="1" kern="10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route is a mapping between</a:t>
            </a:r>
            <a:br>
              <a:rPr lang="hu-HU" b="1" kern="10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hu-HU" sz="1800" b="1" kern="10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 HTTP method, a URL pattern and a controller function.</a:t>
            </a:r>
          </a:p>
        </p:txBody>
      </p:sp>
    </p:spTree>
    <p:extLst>
      <p:ext uri="{BB962C8B-B14F-4D97-AF65-F5344CB8AC3E}">
        <p14:creationId xmlns:p14="http://schemas.microsoft.com/office/powerpoint/2010/main" val="58150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F1BCCC-A6C6-D890-1546-E8AE7EB99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D13DEE78-8BB6-1C71-75A5-64797351E98D}"/>
              </a:ext>
            </a:extLst>
          </p:cNvPr>
          <p:cNvSpPr txBox="1"/>
          <p:nvPr/>
        </p:nvSpPr>
        <p:spPr>
          <a:xfrm>
            <a:off x="3482959" y="68295"/>
            <a:ext cx="52261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INTRODUCE CONTROLLERS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1A6E08A3-47E6-0F2E-AA6B-5F9408747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8A29769F-CE10-0A49-9734-B69B8624319A}"/>
              </a:ext>
            </a:extLst>
          </p:cNvPr>
          <p:cNvSpPr txBox="1"/>
          <p:nvPr/>
        </p:nvSpPr>
        <p:spPr>
          <a:xfrm>
            <a:off x="1043663" y="1250039"/>
            <a:ext cx="11081178" cy="560796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 dirty="0">
                <a:solidFill>
                  <a:srgbClr val="FFDF20"/>
                </a:solidFill>
                <a:latin typeface="Consolas" panose="020B0609020204030204" pitchFamily="49" charset="0"/>
              </a:rPr>
              <a:t>// routes/apiRoutes.js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 apiRoutes =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'GET /api/hello': (req, res) =&gt;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res.writeHead(200, { 'Content-Type': 'application/json' });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res.end(JSON.stringify({ message: "Hello from API" }));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},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'GET /api/time': (req, res) =&gt;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const now = new Date().toISOString();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res.writeHead(200, { 'Content-Type': 'application/json' });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res.end(JSON.stringify({ time: now }));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spcAft>
                <a:spcPts val="1800"/>
              </a:spcAft>
            </a:pPr>
            <a:r>
              <a:rPr lang="hu-HU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export default apiRoutes;</a:t>
            </a:r>
          </a:p>
          <a:p>
            <a:r>
              <a:rPr lang="hu-HU" sz="2000" b="1" dirty="0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import apiRoutes from './routes/apiRoutes.js';</a:t>
            </a:r>
          </a:p>
        </p:txBody>
      </p:sp>
      <p:sp>
        <p:nvSpPr>
          <p:cNvPr id="3" name="Bal oldali kapcsos zárójel 2">
            <a:extLst>
              <a:ext uri="{FF2B5EF4-FFF2-40B4-BE49-F238E27FC236}">
                <a16:creationId xmlns:a16="http://schemas.microsoft.com/office/drawing/2014/main" id="{AB05C90B-5E0F-1AA0-18C9-0BF28D06ACDD}"/>
              </a:ext>
            </a:extLst>
          </p:cNvPr>
          <p:cNvSpPr/>
          <p:nvPr/>
        </p:nvSpPr>
        <p:spPr>
          <a:xfrm>
            <a:off x="591901" y="1685925"/>
            <a:ext cx="451762" cy="3922036"/>
          </a:xfrm>
          <a:prstGeom prst="leftBrace">
            <a:avLst>
              <a:gd name="adj1" fmla="val 48393"/>
              <a:gd name="adj2" fmla="val 50000"/>
            </a:avLst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065229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3CA1DE-5722-BC79-88EA-C9040E1E6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CA4451EE-09D8-1EFC-E25C-A85A9DC3DBFB}"/>
              </a:ext>
            </a:extLst>
          </p:cNvPr>
          <p:cNvSpPr txBox="1"/>
          <p:nvPr/>
        </p:nvSpPr>
        <p:spPr>
          <a:xfrm>
            <a:off x="3482959" y="68295"/>
            <a:ext cx="52261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INTRODUCE CONTROLLERS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23AF55D-45F9-792F-8000-7D01458CE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44DC5948-F855-749B-3CAE-B731AFB23FDF}"/>
              </a:ext>
            </a:extLst>
          </p:cNvPr>
          <p:cNvSpPr txBox="1"/>
          <p:nvPr/>
        </p:nvSpPr>
        <p:spPr>
          <a:xfrm>
            <a:off x="1043663" y="1504950"/>
            <a:ext cx="11081178" cy="447675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 dirty="0">
                <a:solidFill>
                  <a:srgbClr val="FFDF20"/>
                </a:solidFill>
                <a:latin typeface="Consolas" panose="020B0609020204030204" pitchFamily="49" charset="0"/>
              </a:rPr>
              <a:t>// controllers/helloController.js</a:t>
            </a:r>
          </a:p>
          <a:p>
            <a:pPr>
              <a:spcBef>
                <a:spcPts val="600"/>
              </a:spcBef>
            </a:pPr>
            <a:r>
              <a:rPr lang="hu-HU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export default function helloController(req, res) {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res.writeHead(200, { 'Content-Type': 'application/json' });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res.end(JSON.stringify({ message: "Hello from API" }));</a:t>
            </a:r>
          </a:p>
          <a:p>
            <a:pPr>
              <a:spcBef>
                <a:spcPts val="600"/>
              </a:spcBef>
            </a:pPr>
            <a:r>
              <a:rPr lang="hu-HU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600"/>
              </a:spcBef>
            </a:pPr>
            <a:r>
              <a:rPr lang="hu-HU" sz="2000" b="1" dirty="0">
                <a:solidFill>
                  <a:srgbClr val="FFDF20"/>
                </a:solidFill>
                <a:latin typeface="Consolas" panose="020B0609020204030204" pitchFamily="49" charset="0"/>
              </a:rPr>
              <a:t>// controllers/timeController.js</a:t>
            </a:r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hu-HU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export default function timeController(req, res) {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const now = new Date().toISOString();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res.writeHead(200, { 'Content-Type': 'application/json' });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res.end(JSON.stringify({ time: now }));</a:t>
            </a:r>
          </a:p>
          <a:p>
            <a:pPr>
              <a:spcBef>
                <a:spcPts val="600"/>
              </a:spcBef>
            </a:pPr>
            <a:r>
              <a:rPr lang="hu-HU" sz="20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Bal oldali kapcsos zárójel 2">
            <a:extLst>
              <a:ext uri="{FF2B5EF4-FFF2-40B4-BE49-F238E27FC236}">
                <a16:creationId xmlns:a16="http://schemas.microsoft.com/office/drawing/2014/main" id="{9892A7BA-2FB3-AB55-822D-F593DB5A9735}"/>
              </a:ext>
            </a:extLst>
          </p:cNvPr>
          <p:cNvSpPr/>
          <p:nvPr/>
        </p:nvSpPr>
        <p:spPr>
          <a:xfrm>
            <a:off x="591901" y="1685925"/>
            <a:ext cx="451762" cy="3922036"/>
          </a:xfrm>
          <a:prstGeom prst="leftBrace">
            <a:avLst>
              <a:gd name="adj1" fmla="val 48393"/>
              <a:gd name="adj2" fmla="val 50000"/>
            </a:avLst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8776509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FA2C55-C1CA-2367-56E2-9FD87E827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5C97AD52-F9BA-C89B-6214-996BFA6E37E9}"/>
              </a:ext>
            </a:extLst>
          </p:cNvPr>
          <p:cNvSpPr txBox="1"/>
          <p:nvPr/>
        </p:nvSpPr>
        <p:spPr>
          <a:xfrm>
            <a:off x="3482959" y="68295"/>
            <a:ext cx="52261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INTRODUCE CONTROLLERS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D068120-02F7-DC91-4126-E5A5C2B57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C7BA78E7-C1FD-F288-C6A5-19BB0F0EDE47}"/>
              </a:ext>
            </a:extLst>
          </p:cNvPr>
          <p:cNvSpPr txBox="1"/>
          <p:nvPr/>
        </p:nvSpPr>
        <p:spPr>
          <a:xfrm>
            <a:off x="1043663" y="1504950"/>
            <a:ext cx="11081178" cy="447675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 dirty="0">
                <a:solidFill>
                  <a:srgbClr val="FFDF20"/>
                </a:solidFill>
                <a:latin typeface="Consolas" panose="020B0609020204030204" pitchFamily="49" charset="0"/>
              </a:rPr>
              <a:t>// routes/apiRoutes.js</a:t>
            </a:r>
          </a:p>
          <a:p>
            <a:pPr>
              <a:spcBef>
                <a:spcPts val="18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import timeController from '../controllers/timeController.js';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import helloController from '../controllers/helloController.js';</a:t>
            </a:r>
          </a:p>
          <a:p>
            <a:pPr>
              <a:spcBef>
                <a:spcPts val="600"/>
              </a:spcBef>
            </a:pPr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 apiRoutes = {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'GET /api/time': timeController,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'GET /api/hello': helloController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spcBef>
                <a:spcPts val="600"/>
              </a:spcBef>
            </a:pPr>
            <a:endParaRPr lang="hu-HU" sz="20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export default apiRoutes;</a:t>
            </a:r>
          </a:p>
        </p:txBody>
      </p:sp>
    </p:spTree>
    <p:extLst>
      <p:ext uri="{BB962C8B-B14F-4D97-AF65-F5344CB8AC3E}">
        <p14:creationId xmlns:p14="http://schemas.microsoft.com/office/powerpoint/2010/main" val="197560452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4B1F7-DBC6-7146-EC26-82DDB5A37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EA3A8036-3E06-25F3-C11C-AEC81FEBD31D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POST REQUEST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61A59FB-5E2A-C77E-BEC5-9727F722E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4779C548-4D7D-0651-37F8-10FF31CC2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63" y="2381082"/>
            <a:ext cx="2791215" cy="2400635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A380C24A-A943-E8EE-C196-C7742B3FF7A1}"/>
              </a:ext>
            </a:extLst>
          </p:cNvPr>
          <p:cNvSpPr txBox="1"/>
          <p:nvPr/>
        </p:nvSpPr>
        <p:spPr>
          <a:xfrm>
            <a:off x="4915228" y="1496394"/>
            <a:ext cx="6867197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TODO Form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"todoForm"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Todo ID:</a:t>
            </a:r>
          </a:p>
          <a:p>
            <a:pPr>
              <a:buNone/>
            </a:pP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"todoId"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Todo Title:</a:t>
            </a:r>
          </a:p>
          <a:p>
            <a:pPr>
              <a:buNone/>
            </a:pP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"todoTitle"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Add Todo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&lt;/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"loadTodos"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hu-HU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Load Todos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hu-HU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hu-HU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16CA457D-EC4C-3DFE-6A62-A714BEB3A1F1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POST FORM</a:t>
            </a:r>
          </a:p>
        </p:txBody>
      </p:sp>
    </p:spTree>
    <p:extLst>
      <p:ext uri="{BB962C8B-B14F-4D97-AF65-F5344CB8AC3E}">
        <p14:creationId xmlns:p14="http://schemas.microsoft.com/office/powerpoint/2010/main" val="2983339529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2490E-6072-1A16-268F-111D996FB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751AEE8D-3BE3-B6C8-E671-CAC3BAD74D84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POST REQUEST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52D60B1-71C8-67B8-FF5D-359ABA356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8CFD23D4-C448-62F6-BC85-E0D9F5CF8823}"/>
              </a:ext>
            </a:extLst>
          </p:cNvPr>
          <p:cNvSpPr txBox="1"/>
          <p:nvPr/>
        </p:nvSpPr>
        <p:spPr>
          <a:xfrm>
            <a:off x="1043663" y="723900"/>
            <a:ext cx="11081178" cy="61229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 dirty="0">
                <a:solidFill>
                  <a:srgbClr val="FFDF20"/>
                </a:solidFill>
                <a:latin typeface="Consolas" panose="020B0609020204030204" pitchFamily="49" charset="0"/>
              </a:rPr>
              <a:t>// public/script.js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 todoForm = document.getElementById('todoForm');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todoForm.addEventListener('submit', async (e) =&gt; {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e.preventDefault();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const id = document.getElementById('todoId').value;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const title = document.getElementById('todoTitle').value;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try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const res = await fetch('/api/todos',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method: 'POST',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headers: { 'Content-Type': 'application/json' },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  body: JSON.stringify({ id, title })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});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const data = await res.json();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console.log('Todo added:', data);</a:t>
            </a:r>
          </a:p>
          <a:p>
            <a:pPr>
              <a:spcBef>
                <a:spcPts val="600"/>
              </a:spcBef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 catch (err) {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alert('Error posting todo');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B3A1D3E3-2E41-AD9D-A25B-B6D9D5712D31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POST FORM</a:t>
            </a:r>
          </a:p>
        </p:txBody>
      </p:sp>
    </p:spTree>
    <p:extLst>
      <p:ext uri="{BB962C8B-B14F-4D97-AF65-F5344CB8AC3E}">
        <p14:creationId xmlns:p14="http://schemas.microsoft.com/office/powerpoint/2010/main" val="1594857355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AC3B7-692B-701E-0A6A-F808A46D7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EA3CF1A0-2AFA-2881-6A71-78C440C03DC9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GET REQUEST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7FC1D79-77D4-53BE-AFCB-A0473AF28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4CD405C1-7987-7E70-6C63-2C2325C92EB2}"/>
              </a:ext>
            </a:extLst>
          </p:cNvPr>
          <p:cNvSpPr txBox="1"/>
          <p:nvPr/>
        </p:nvSpPr>
        <p:spPr>
          <a:xfrm>
            <a:off x="1043663" y="1371600"/>
            <a:ext cx="9986287" cy="515302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 dirty="0">
                <a:solidFill>
                  <a:srgbClr val="FFDF20"/>
                </a:solidFill>
                <a:latin typeface="Consolas" panose="020B0609020204030204" pitchFamily="49" charset="0"/>
              </a:rPr>
              <a:t>// public/script.js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const btnLoadTodos = document.getElementById('loadTodos');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btnLoadTodos.addEventListener('click', async () =&gt;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try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const res = await fetch('/api/todos');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const data = await res.json();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console.log('Todos:', data);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} catch (err)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  alert('Error loading todos');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dirty="0">
                <a:solidFill>
                  <a:schemeClr val="bg1"/>
                </a:solidFill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E74F17D4-E591-D300-4474-69223763FAEF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POST FORM</a:t>
            </a:r>
          </a:p>
        </p:txBody>
      </p:sp>
    </p:spTree>
    <p:extLst>
      <p:ext uri="{BB962C8B-B14F-4D97-AF65-F5344CB8AC3E}">
        <p14:creationId xmlns:p14="http://schemas.microsoft.com/office/powerpoint/2010/main" val="407413211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0C504E-DA25-712E-65C6-1BCA2EB15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BBED5FEA-151D-0F45-AA1C-987F3080D83C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TODO CONTROLLERS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17CA4CA-7241-FBF5-8D3C-429B59D40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D77F358C-D522-8F3B-C049-39817B518F59}"/>
              </a:ext>
            </a:extLst>
          </p:cNvPr>
          <p:cNvSpPr txBox="1"/>
          <p:nvPr/>
        </p:nvSpPr>
        <p:spPr>
          <a:xfrm>
            <a:off x="1043663" y="1371600"/>
            <a:ext cx="9986287" cy="515302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DATABASE IMITATION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data/todos.js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const todos = [];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export default todos;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controllers/getTodosController.js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todos from '../data/todos.js';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function getTodosController(req, res)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res.writeHead(200, { 'Content-Type': 'application/json' });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res.end(JSON.stringify(todos));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A3792BBD-3A17-9685-14D4-E8ACB3C87E91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POST FORM</a:t>
            </a:r>
          </a:p>
        </p:txBody>
      </p:sp>
    </p:spTree>
    <p:extLst>
      <p:ext uri="{BB962C8B-B14F-4D97-AF65-F5344CB8AC3E}">
        <p14:creationId xmlns:p14="http://schemas.microsoft.com/office/powerpoint/2010/main" val="3971625790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53AF04-CA3B-BBA1-C329-3DF9C420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5C887C61-1888-A17B-CC72-E0BE93DD9A75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TODO CONTROLLERS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609565A-25D5-606E-61D4-97EE2F71F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D977CE40-4B6E-A78F-183E-6EB40668E50C}"/>
              </a:ext>
            </a:extLst>
          </p:cNvPr>
          <p:cNvSpPr txBox="1"/>
          <p:nvPr/>
        </p:nvSpPr>
        <p:spPr>
          <a:xfrm>
            <a:off x="1043663" y="1371600"/>
            <a:ext cx="10738762" cy="515302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controllers/addTodoController.js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todos from '../data/todos.js';</a:t>
            </a: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function addTodoController(req, res, body)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{ id, title } = body;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// Minimal validation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if (!id || !title)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res.writeHead(400, { 'Content-Type': 'application/json' });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return res.end(JSON.stringify({ error: "id and title are required" }));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todos.push({ id, title });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res.writeHead(201, { 'Content-Type': 'application/json' });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res.end(JSON.stringify({ id, title }));</a:t>
            </a: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D4B0542F-C3E4-E3C5-AA34-A006E99B4F0C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POST FORM</a:t>
            </a:r>
          </a:p>
        </p:txBody>
      </p:sp>
    </p:spTree>
    <p:extLst>
      <p:ext uri="{BB962C8B-B14F-4D97-AF65-F5344CB8AC3E}">
        <p14:creationId xmlns:p14="http://schemas.microsoft.com/office/powerpoint/2010/main" val="3653282024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97612-A734-83C0-AB34-51B74A670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CFCAE05D-AB7E-54AC-B063-1FCB45E8AD06}"/>
              </a:ext>
            </a:extLst>
          </p:cNvPr>
          <p:cNvSpPr txBox="1"/>
          <p:nvPr/>
        </p:nvSpPr>
        <p:spPr>
          <a:xfrm>
            <a:off x="1863897" y="68295"/>
            <a:ext cx="84642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EXTEND ROUTING WITH TODO CONTROLLERS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E7A26255-D60D-81E9-8E35-8FE7D584E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83CB980B-5FD5-264A-D148-929C43054EE3}"/>
              </a:ext>
            </a:extLst>
          </p:cNvPr>
          <p:cNvSpPr txBox="1"/>
          <p:nvPr/>
        </p:nvSpPr>
        <p:spPr>
          <a:xfrm>
            <a:off x="1043663" y="1371600"/>
            <a:ext cx="10738762" cy="515302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routes/apiRoutes.js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timeController from '../controllers/timeController.js';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helloController from '../controllers/helloController.js';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import addTodoController from '../controllers/addTodoController.js';</a:t>
            </a: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import getTodosController from '../controllers/getTodosController.js';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const apiRoutes =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'GET /api/time': timeController,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'GET /api/hello': helloController,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'POST /api/todos': addTodoController,</a:t>
            </a: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'GET /api/todos': getTodosController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};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export default apiRoutes;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1ECBC306-B9D0-6B2E-B88B-D62F271EB65B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POST FORM</a:t>
            </a:r>
          </a:p>
        </p:txBody>
      </p:sp>
    </p:spTree>
    <p:extLst>
      <p:ext uri="{BB962C8B-B14F-4D97-AF65-F5344CB8AC3E}">
        <p14:creationId xmlns:p14="http://schemas.microsoft.com/office/powerpoint/2010/main" val="2757804101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068FBC-BB90-A3C1-3CA0-BAA8E1737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3EDF735D-71BA-0491-5D15-47AEF0F91D8B}"/>
              </a:ext>
            </a:extLst>
          </p:cNvPr>
          <p:cNvSpPr txBox="1"/>
          <p:nvPr/>
        </p:nvSpPr>
        <p:spPr>
          <a:xfrm>
            <a:off x="2584483" y="68295"/>
            <a:ext cx="70230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EXTEND API HANDLER WITH POST API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D16D66E-D039-E992-9928-E3FC9F5BB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3E35B99E-19DB-003D-E4E8-47EA68D88F36}"/>
              </a:ext>
            </a:extLst>
          </p:cNvPr>
          <p:cNvSpPr txBox="1"/>
          <p:nvPr/>
        </p:nvSpPr>
        <p:spPr>
          <a:xfrm>
            <a:off x="1043663" y="1075755"/>
            <a:ext cx="10738762" cy="561533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  <a:p>
            <a:pPr>
              <a:spcBef>
                <a:spcPts val="6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function handleApiRequest(req, res) {</a:t>
            </a:r>
          </a:p>
          <a:p>
            <a:pPr>
              <a:lnSpc>
                <a:spcPts val="1200"/>
              </a:lnSpc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 </a:t>
            </a:r>
            <a:r>
              <a:rPr lang="hu-HU" sz="1200" b="1">
                <a:solidFill>
                  <a:srgbClr val="FFDF20"/>
                </a:solidFill>
                <a:latin typeface="Consolas" panose="020B0609020204030204" pitchFamily="49" charset="0"/>
              </a:rPr>
              <a:t>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hu-HU" b="1">
                <a:solidFill>
                  <a:schemeClr val="bg1"/>
                </a:solidFill>
                <a:latin typeface="Consolas" panose="020B0609020204030204" pitchFamily="49" charset="0"/>
              </a:rPr>
              <a:t>  if (handler) {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if (req.method === 'POST') {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let body = '';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req.on('data', chunk =&gt; body += chunk);  </a:t>
            </a:r>
            <a:r>
              <a:rPr lang="hu-HU">
                <a:solidFill>
                  <a:srgbClr val="FFDF20"/>
                </a:solidFill>
                <a:latin typeface="Consolas" panose="020B0609020204030204" pitchFamily="49" charset="0"/>
              </a:rPr>
              <a:t>// compose body from streamed chunks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req.on('end', () =&gt; {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  try {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    handler(req, res, JSON.parse(body)); </a:t>
            </a:r>
            <a:r>
              <a:rPr lang="hu-HU">
                <a:solidFill>
                  <a:srgbClr val="FFDF20"/>
                </a:solidFill>
                <a:latin typeface="Consolas" panose="020B0609020204030204" pitchFamily="49" charset="0"/>
              </a:rPr>
              <a:t>// pass parsed body to handler</a:t>
            </a:r>
            <a:endParaRPr lang="hu-HU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  } catch {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    res.writeHead(400, { 'Content-Type': 'application/json' });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    res.end(JSON.stringify({ error: "Invalid JSON" }));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});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return;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    return handler(req, res);</a:t>
            </a:r>
          </a:p>
          <a:p>
            <a:r>
              <a:rPr lang="hu-HU" b="1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lnSpc>
                <a:spcPts val="1200"/>
              </a:lnSpc>
            </a:pPr>
            <a:r>
              <a:rPr lang="hu-HU" sz="1200" b="1">
                <a:solidFill>
                  <a:srgbClr val="FFDF20"/>
                </a:solidFill>
                <a:latin typeface="Consolas" panose="020B0609020204030204" pitchFamily="49" charset="0"/>
              </a:rPr>
              <a:t> 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Nyíl: jobbra mutató 2">
            <a:extLst>
              <a:ext uri="{FF2B5EF4-FFF2-40B4-BE49-F238E27FC236}">
                <a16:creationId xmlns:a16="http://schemas.microsoft.com/office/drawing/2014/main" id="{EDD892A5-E4B5-4E20-B146-EFF28FEF2DCA}"/>
              </a:ext>
            </a:extLst>
          </p:cNvPr>
          <p:cNvSpPr/>
          <p:nvPr/>
        </p:nvSpPr>
        <p:spPr>
          <a:xfrm>
            <a:off x="67159" y="1901768"/>
            <a:ext cx="976504" cy="39444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1EEC4AC0-971A-D609-4DFE-69203EF25A27}"/>
              </a:ext>
            </a:extLst>
          </p:cNvPr>
          <p:cNvSpPr txBox="1"/>
          <p:nvPr/>
        </p:nvSpPr>
        <p:spPr>
          <a:xfrm>
            <a:off x="10372241" y="158494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800" b="1">
                <a:solidFill>
                  <a:srgbClr val="FFDF20"/>
                </a:solidFill>
                <a:latin typeface="Consolas" panose="020B0609020204030204" pitchFamily="49" charset="0"/>
              </a:rPr>
              <a:t>// POST FORM</a:t>
            </a:r>
          </a:p>
        </p:txBody>
      </p:sp>
    </p:spTree>
    <p:extLst>
      <p:ext uri="{BB962C8B-B14F-4D97-AF65-F5344CB8AC3E}">
        <p14:creationId xmlns:p14="http://schemas.microsoft.com/office/powerpoint/2010/main" val="1449256863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B1DCC0-6ADD-A762-281C-24E095F02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69853AFD-AD4E-F293-9A8D-CE5CAF373DD6}"/>
              </a:ext>
            </a:extLst>
          </p:cNvPr>
          <p:cNvSpPr txBox="1"/>
          <p:nvPr/>
        </p:nvSpPr>
        <p:spPr>
          <a:xfrm>
            <a:off x="3614444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DYNAMIC ROUTING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E75C836E-98BC-FD3F-133E-79D82F747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929FF714-51B0-89CB-9DEA-8DF51F69BDCB}"/>
              </a:ext>
            </a:extLst>
          </p:cNvPr>
          <p:cNvSpPr txBox="1"/>
          <p:nvPr/>
        </p:nvSpPr>
        <p:spPr>
          <a:xfrm>
            <a:off x="1043663" y="1416425"/>
            <a:ext cx="10738762" cy="519056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A </a:t>
            </a:r>
            <a:r>
              <a:rPr lang="en-US" sz="2400" b="1">
                <a:solidFill>
                  <a:srgbClr val="FFDF20"/>
                </a:solidFill>
              </a:rPr>
              <a:t>static route </a:t>
            </a:r>
            <a:r>
              <a:rPr lang="en-US" sz="2400" b="1">
                <a:solidFill>
                  <a:schemeClr val="bg1"/>
                </a:solidFill>
              </a:rPr>
              <a:t>matches one exact URL, with </a:t>
            </a:r>
            <a:r>
              <a:rPr lang="en-US" sz="2400" b="1">
                <a:solidFill>
                  <a:srgbClr val="FFDF20"/>
                </a:solidFill>
              </a:rPr>
              <a:t>no variable parts</a:t>
            </a:r>
            <a:r>
              <a:rPr lang="en-US" sz="2400" b="1">
                <a:solidFill>
                  <a:schemeClr val="bg1"/>
                </a:solidFill>
              </a:rPr>
              <a:t>.</a:t>
            </a:r>
            <a:endParaRPr lang="hu-HU" sz="2400" b="1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r>
              <a:rPr lang="hu-HU" sz="2400">
                <a:solidFill>
                  <a:schemeClr val="bg1"/>
                </a:solidFill>
                <a:latin typeface="Consolas" panose="020B0609020204030204" pitchFamily="49" charset="0"/>
              </a:rPr>
              <a:t>GET /api/time</a:t>
            </a:r>
          </a:p>
          <a:p>
            <a:pPr>
              <a:spcBef>
                <a:spcPts val="600"/>
              </a:spcBef>
            </a:pPr>
            <a:r>
              <a:rPr lang="hu-HU" sz="2400">
                <a:solidFill>
                  <a:schemeClr val="bg1"/>
                </a:solidFill>
                <a:latin typeface="Consolas" panose="020B0609020204030204" pitchFamily="49" charset="0"/>
              </a:rPr>
              <a:t>GET /api/hello</a:t>
            </a:r>
          </a:p>
          <a:p>
            <a:pPr>
              <a:spcBef>
                <a:spcPts val="600"/>
              </a:spcBef>
            </a:pPr>
            <a:r>
              <a:rPr lang="hu-HU" sz="2400">
                <a:solidFill>
                  <a:schemeClr val="bg1"/>
                </a:solidFill>
                <a:latin typeface="Consolas" panose="020B0609020204030204" pitchFamily="49" charset="0"/>
              </a:rPr>
              <a:t>POST /api/todos</a:t>
            </a:r>
          </a:p>
          <a:p>
            <a:pPr>
              <a:spcBef>
                <a:spcPts val="600"/>
              </a:spcBef>
            </a:pPr>
            <a:r>
              <a:rPr lang="hu-HU" sz="2400">
                <a:solidFill>
                  <a:schemeClr val="bg1"/>
                </a:solidFill>
                <a:latin typeface="Consolas" panose="020B0609020204030204" pitchFamily="49" charset="0"/>
              </a:rPr>
              <a:t>GET /api/todos</a:t>
            </a:r>
          </a:p>
          <a:p>
            <a:r>
              <a:rPr lang="hu-HU" sz="2400">
                <a:solidFill>
                  <a:schemeClr val="bg1"/>
                </a:solidFill>
              </a:rPr>
              <a:t> </a:t>
            </a:r>
          </a:p>
          <a:p>
            <a:r>
              <a:rPr lang="en-US" sz="2400" b="1">
                <a:solidFill>
                  <a:schemeClr val="bg1"/>
                </a:solidFill>
              </a:rPr>
              <a:t>A </a:t>
            </a:r>
            <a:r>
              <a:rPr lang="en-US" sz="2400" b="1">
                <a:solidFill>
                  <a:srgbClr val="FFDF20"/>
                </a:solidFill>
              </a:rPr>
              <a:t>dynamic route </a:t>
            </a:r>
            <a:r>
              <a:rPr lang="en-US" sz="2400" b="1">
                <a:solidFill>
                  <a:schemeClr val="bg1"/>
                </a:solidFill>
              </a:rPr>
              <a:t>matches a pattern and </a:t>
            </a:r>
            <a:r>
              <a:rPr lang="en-US" sz="2400" b="1">
                <a:solidFill>
                  <a:srgbClr val="FFDF20"/>
                </a:solidFill>
              </a:rPr>
              <a:t>extracts values from the URL</a:t>
            </a:r>
            <a:r>
              <a:rPr lang="en-US" sz="2400" b="1">
                <a:solidFill>
                  <a:schemeClr val="bg1"/>
                </a:solidFill>
              </a:rPr>
              <a:t>.</a:t>
            </a:r>
            <a:endParaRPr lang="hu-HU" sz="2400" b="1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r>
              <a:rPr lang="hu-HU" sz="2400">
                <a:solidFill>
                  <a:schemeClr val="bg1"/>
                </a:solidFill>
                <a:latin typeface="Consolas" panose="020B0609020204030204" pitchFamily="49" charset="0"/>
              </a:rPr>
              <a:t>/api/todos/1</a:t>
            </a:r>
          </a:p>
          <a:p>
            <a:pPr>
              <a:spcBef>
                <a:spcPts val="600"/>
              </a:spcBef>
            </a:pPr>
            <a:r>
              <a:rPr lang="hu-HU" sz="2400">
                <a:solidFill>
                  <a:schemeClr val="bg1"/>
                </a:solidFill>
                <a:latin typeface="Consolas" panose="020B0609020204030204" pitchFamily="49" charset="0"/>
              </a:rPr>
              <a:t>/api/todos/abc</a:t>
            </a:r>
          </a:p>
          <a:p>
            <a:pPr>
              <a:spcBef>
                <a:spcPts val="600"/>
              </a:spcBef>
            </a:pPr>
            <a:r>
              <a:rPr lang="hu-HU" sz="2400">
                <a:solidFill>
                  <a:schemeClr val="bg1"/>
                </a:solidFill>
                <a:latin typeface="Consolas" panose="020B0609020204030204" pitchFamily="49" charset="0"/>
              </a:rPr>
              <a:t>/api/todos/xyz-123</a:t>
            </a:r>
          </a:p>
          <a:p>
            <a:pPr>
              <a:spcBef>
                <a:spcPts val="600"/>
              </a:spcBef>
            </a:pPr>
            <a:r>
              <a:rPr lang="en-US" sz="2400">
                <a:solidFill>
                  <a:schemeClr val="bg1"/>
                </a:solidFill>
              </a:rPr>
              <a:t>The server extracts the variable part (</a:t>
            </a:r>
            <a:r>
              <a:rPr lang="hu-HU" sz="2400">
                <a:solidFill>
                  <a:schemeClr val="bg1"/>
                </a:solidFill>
              </a:rPr>
              <a:t> </a:t>
            </a:r>
            <a:r>
              <a:rPr lang="en-US" sz="240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  <a:r>
              <a:rPr lang="en-US" sz="2400">
                <a:solidFill>
                  <a:schemeClr val="bg1"/>
                </a:solidFill>
              </a:rPr>
              <a:t>, </a:t>
            </a:r>
            <a:r>
              <a:rPr lang="en-US" sz="2400">
                <a:solidFill>
                  <a:schemeClr val="bg1"/>
                </a:solidFill>
                <a:latin typeface="Consolas" panose="020B0609020204030204" pitchFamily="49" charset="0"/>
              </a:rPr>
              <a:t>abc</a:t>
            </a:r>
            <a:r>
              <a:rPr lang="en-US" sz="2400">
                <a:solidFill>
                  <a:schemeClr val="bg1"/>
                </a:solidFill>
              </a:rPr>
              <a:t>, </a:t>
            </a:r>
            <a:r>
              <a:rPr lang="en-US" sz="2400">
                <a:solidFill>
                  <a:schemeClr val="bg1"/>
                </a:solidFill>
                <a:latin typeface="Consolas" panose="020B0609020204030204" pitchFamily="49" charset="0"/>
              </a:rPr>
              <a:t>xyz-123</a:t>
            </a:r>
            <a:r>
              <a:rPr lang="hu-HU" sz="240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sz="2400">
                <a:solidFill>
                  <a:schemeClr val="bg1"/>
                </a:solidFill>
              </a:rPr>
              <a:t>)</a:t>
            </a:r>
            <a:br>
              <a:rPr lang="hu-HU" sz="2400">
                <a:solidFill>
                  <a:schemeClr val="bg1"/>
                </a:solidFill>
              </a:rPr>
            </a:br>
            <a:r>
              <a:rPr lang="en-US" sz="2400">
                <a:solidFill>
                  <a:schemeClr val="bg1"/>
                </a:solidFill>
              </a:rPr>
              <a:t>and passes it to the controller </a:t>
            </a:r>
            <a:r>
              <a:rPr lang="en-US" sz="2400" b="1">
                <a:solidFill>
                  <a:srgbClr val="FFDF20"/>
                </a:solidFill>
              </a:rPr>
              <a:t>as a parameter</a:t>
            </a:r>
            <a:r>
              <a:rPr lang="en-US" sz="2400">
                <a:solidFill>
                  <a:schemeClr val="bg1"/>
                </a:solidFill>
              </a:rPr>
              <a:t>.</a:t>
            </a:r>
            <a:endParaRPr lang="hu-HU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372654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C361B-9AA6-ED7A-38BC-9BB71327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C194AB04-0AFD-FE49-4A83-C76C044B4F42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DYNAMIC ROUTING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7548269-5305-C47D-421D-5A5285FC7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CA0EA746-30B3-2A69-676A-DA45C73A6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640" y="1356923"/>
            <a:ext cx="3324689" cy="1562318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B6A7241A-96F2-2C06-DAD1-C16B5409C73C}"/>
              </a:ext>
            </a:extLst>
          </p:cNvPr>
          <p:cNvSpPr txBox="1"/>
          <p:nvPr/>
        </p:nvSpPr>
        <p:spPr>
          <a:xfrm>
            <a:off x="4034116" y="3429000"/>
            <a:ext cx="7879977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Delete Todo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hu-HU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>
              <a:solidFill>
                <a:srgbClr val="BBBEBF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endParaRPr lang="hu-HU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"deleteForm"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Todo ID to delete: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"deleteTodoId"</a:t>
            </a: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hu-HU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hu-HU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hu-HU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u-HU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hu-HU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Delete Todo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hu-HU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hu-HU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hu-HU" b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hu-HU" b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hu-HU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130622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CADCC-B029-6190-8CDD-FBC533A3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0F8DC39E-D87F-17A4-564C-3FE65FD65540}"/>
              </a:ext>
            </a:extLst>
          </p:cNvPr>
          <p:cNvSpPr txBox="1"/>
          <p:nvPr/>
        </p:nvSpPr>
        <p:spPr>
          <a:xfrm>
            <a:off x="3614444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DYNAMIC ROUTING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43461C44-EDD2-800E-A022-F36144CCE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30890E5F-67AB-7C1E-50D0-1F80CBD287C5}"/>
              </a:ext>
            </a:extLst>
          </p:cNvPr>
          <p:cNvSpPr txBox="1"/>
          <p:nvPr/>
        </p:nvSpPr>
        <p:spPr>
          <a:xfrm>
            <a:off x="1043663" y="1238250"/>
            <a:ext cx="10738762" cy="55514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script.js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const deleteForm = document.getElementById('deleteForm');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deleteForm.addEventListener('submit', async (e) =&gt;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e.preventDefault();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id = document.getElementById('deleteTodoId').value;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try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const res = await fetch(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`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/api/todos/${id}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`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,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  method: 'DELETE'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});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const data = await res.json();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console.log('Todo deleted:', data);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 catch (err)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alert('Error deleting todo');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668960319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630D6-3087-D719-18DF-8D7FB6338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E2593C02-A411-564F-914A-97757AA30893}"/>
              </a:ext>
            </a:extLst>
          </p:cNvPr>
          <p:cNvSpPr txBox="1"/>
          <p:nvPr/>
        </p:nvSpPr>
        <p:spPr>
          <a:xfrm>
            <a:off x="3614444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DYNAMIC ROUTING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78C95E0-4123-47B8-F04E-D8398E63C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09A14DAD-FEB9-9761-4AFF-D8456814CAEB}"/>
              </a:ext>
            </a:extLst>
          </p:cNvPr>
          <p:cNvSpPr txBox="1"/>
          <p:nvPr/>
        </p:nvSpPr>
        <p:spPr>
          <a:xfrm>
            <a:off x="1043663" y="1238250"/>
            <a:ext cx="10738762" cy="55514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lnSpc>
                <a:spcPts val="2800"/>
              </a:lnSpc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controllers/deleteTodoController.js</a:t>
            </a:r>
          </a:p>
          <a:p>
            <a:pPr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todos from '../data/todos.js';</a:t>
            </a:r>
          </a:p>
          <a:p>
            <a:pPr>
              <a:lnSpc>
                <a:spcPts val="2800"/>
              </a:lnSpc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function deleteTodoController(req, res, params) {</a:t>
            </a:r>
          </a:p>
          <a:p>
            <a:pPr>
              <a:lnSpc>
                <a:spcPts val="2800"/>
              </a:lnSpc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{ id } = params;</a:t>
            </a:r>
          </a:p>
          <a:p>
            <a:pPr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index = todos.findIndex(t =&gt; t.id === id);</a:t>
            </a:r>
          </a:p>
          <a:p>
            <a:pPr>
              <a:lnSpc>
                <a:spcPts val="2800"/>
              </a:lnSpc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if (index === -1) {</a:t>
            </a:r>
          </a:p>
          <a:p>
            <a:pPr>
              <a:lnSpc>
                <a:spcPts val="2800"/>
              </a:lnSpc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res.writeHead(404, { 'Content-Type': 'application/json' });</a:t>
            </a:r>
          </a:p>
          <a:p>
            <a:pPr>
              <a:lnSpc>
                <a:spcPts val="2800"/>
              </a:lnSpc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return res.end(JSON.stringify({ error: "Todo not found" }));</a:t>
            </a:r>
          </a:p>
          <a:p>
            <a:pPr>
              <a:lnSpc>
                <a:spcPts val="2800"/>
              </a:lnSpc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lnSpc>
                <a:spcPts val="2800"/>
              </a:lnSpc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removed = todos.splice(index, 1)[0];</a:t>
            </a:r>
          </a:p>
          <a:p>
            <a:pPr>
              <a:lnSpc>
                <a:spcPts val="2800"/>
              </a:lnSpc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res.writeHead(200, { 'Content-Type': 'application/json' });</a:t>
            </a:r>
          </a:p>
          <a:p>
            <a:pPr>
              <a:lnSpc>
                <a:spcPts val="2800"/>
              </a:lnSpc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res.end(JSON.stringify(removed));</a:t>
            </a:r>
          </a:p>
          <a:p>
            <a:pPr>
              <a:lnSpc>
                <a:spcPts val="2800"/>
              </a:lnSpc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2851673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C3AFF5-0FFB-2004-5A8B-FF461F6ED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F1F176D6-75DB-9A92-8FE7-C9D8535FB061}"/>
              </a:ext>
            </a:extLst>
          </p:cNvPr>
          <p:cNvSpPr txBox="1"/>
          <p:nvPr/>
        </p:nvSpPr>
        <p:spPr>
          <a:xfrm>
            <a:off x="3614444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DYNAMIC ROUTING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5BFAB99-BFAD-CFB0-29DA-4C3727DE8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79871C2F-7C8F-D7E6-5174-88872FBCAE29}"/>
              </a:ext>
            </a:extLst>
          </p:cNvPr>
          <p:cNvSpPr txBox="1"/>
          <p:nvPr/>
        </p:nvSpPr>
        <p:spPr>
          <a:xfrm>
            <a:off x="1043663" y="1238251"/>
            <a:ext cx="10738762" cy="5216338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routes/apiRoutes.js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timeController from '../controllers/timeController.js';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helloController from '../controllers/helloController.js';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addTodoController from '../controllers/addTodoController.js';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getTodosController from '../controllers/getTodosController.js';</a:t>
            </a:r>
          </a:p>
          <a:p>
            <a:pPr>
              <a:spcBef>
                <a:spcPts val="6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import deleteTodoController from '../controllers/deleteTodoController.js';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const apiRoutes =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'GET /api/time': timeController,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'GET /api/hello': helloController,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'POST /api/todos': addTodoController,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'GET /api/todos': getTodosController,</a:t>
            </a:r>
          </a:p>
          <a:p>
            <a:pPr>
              <a:spcBef>
                <a:spcPts val="6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'DELETE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/api/todos/:id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': deleteTodoController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};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export default apiRoutes;</a:t>
            </a:r>
          </a:p>
        </p:txBody>
      </p:sp>
    </p:spTree>
    <p:extLst>
      <p:ext uri="{BB962C8B-B14F-4D97-AF65-F5344CB8AC3E}">
        <p14:creationId xmlns:p14="http://schemas.microsoft.com/office/powerpoint/2010/main" val="1272285165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C07D2-4FC5-6CBE-972F-B9465BB7E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46561F0C-0C8E-E540-A84C-F9F983CA8DE7}"/>
              </a:ext>
            </a:extLst>
          </p:cNvPr>
          <p:cNvSpPr txBox="1"/>
          <p:nvPr/>
        </p:nvSpPr>
        <p:spPr>
          <a:xfrm>
            <a:off x="2584483" y="68295"/>
            <a:ext cx="70230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EXTEND API HANDLER WITH POST API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086DC6C-304C-E2D9-CEE5-AE6F21108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8C148788-09AE-4F7D-E91E-F1A734667AF5}"/>
              </a:ext>
            </a:extLst>
          </p:cNvPr>
          <p:cNvSpPr txBox="1"/>
          <p:nvPr/>
        </p:nvSpPr>
        <p:spPr>
          <a:xfrm>
            <a:off x="1043663" y="1075755"/>
            <a:ext cx="10738762" cy="561533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  <a:p>
            <a:pPr>
              <a:spcBef>
                <a:spcPts val="6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function handleApiRequest(req, res) {</a:t>
            </a:r>
          </a:p>
          <a:p>
            <a:pPr>
              <a:lnSpc>
                <a:spcPts val="1200"/>
              </a:lnSpc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 </a:t>
            </a:r>
            <a:r>
              <a:rPr lang="hu-HU" sz="1200" b="1">
                <a:solidFill>
                  <a:srgbClr val="FFDF20"/>
                </a:solidFill>
                <a:latin typeface="Consolas" panose="020B0609020204030204" pitchFamily="49" charset="0"/>
              </a:rPr>
              <a:t>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hu-HU" b="1">
                <a:solidFill>
                  <a:schemeClr val="bg1"/>
                </a:solidFill>
                <a:latin typeface="Consolas" panose="020B0609020204030204" pitchFamily="49" charset="0"/>
              </a:rPr>
              <a:t>  if (handler) {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if (req.method === 'POST') {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let body = '';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req.on('data', chunk =&gt; body += chunk);  </a:t>
            </a:r>
            <a:r>
              <a:rPr lang="hu-HU">
                <a:solidFill>
                  <a:srgbClr val="FFDF20"/>
                </a:solidFill>
                <a:latin typeface="Consolas" panose="020B0609020204030204" pitchFamily="49" charset="0"/>
              </a:rPr>
              <a:t>// compose body from streamed chunks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req.on('end', () =&gt; {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  try {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    handler(req, res, JSON.parse(body)); </a:t>
            </a:r>
            <a:r>
              <a:rPr lang="hu-HU">
                <a:solidFill>
                  <a:srgbClr val="FFDF20"/>
                </a:solidFill>
                <a:latin typeface="Consolas" panose="020B0609020204030204" pitchFamily="49" charset="0"/>
              </a:rPr>
              <a:t>// pass parsed body to handler</a:t>
            </a:r>
            <a:endParaRPr lang="hu-HU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  } catch {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    res.writeHead(400, { 'Content-Type': 'application/json' });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    res.end(JSON.stringify({ error: "Invalid JSON" }));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});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  return;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hu-HU">
                <a:solidFill>
                  <a:schemeClr val="bg1"/>
                </a:solidFill>
                <a:latin typeface="Consolas" panose="020B0609020204030204" pitchFamily="49" charset="0"/>
              </a:rPr>
              <a:t>    return handler(req, res);</a:t>
            </a:r>
          </a:p>
          <a:p>
            <a:r>
              <a:rPr lang="hu-HU" b="1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lnSpc>
                <a:spcPts val="1200"/>
              </a:lnSpc>
            </a:pPr>
            <a:r>
              <a:rPr lang="hu-HU" sz="1200" b="1">
                <a:solidFill>
                  <a:srgbClr val="FFDF20"/>
                </a:solidFill>
                <a:latin typeface="Consolas" panose="020B0609020204030204" pitchFamily="49" charset="0"/>
              </a:rPr>
              <a:t> 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Nyíl: jobbra mutató 2">
            <a:extLst>
              <a:ext uri="{FF2B5EF4-FFF2-40B4-BE49-F238E27FC236}">
                <a16:creationId xmlns:a16="http://schemas.microsoft.com/office/drawing/2014/main" id="{A8F005D5-B6DC-DA66-1E6D-8DA8FF6A6C3D}"/>
              </a:ext>
            </a:extLst>
          </p:cNvPr>
          <p:cNvSpPr/>
          <p:nvPr/>
        </p:nvSpPr>
        <p:spPr>
          <a:xfrm>
            <a:off x="67159" y="6204827"/>
            <a:ext cx="976504" cy="39444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2771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BFBF9D-CECE-62A4-5475-1053317CA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8814AAC5-19E4-D098-7024-0D79D60FEDF5}"/>
              </a:ext>
            </a:extLst>
          </p:cNvPr>
          <p:cNvSpPr txBox="1"/>
          <p:nvPr/>
        </p:nvSpPr>
        <p:spPr>
          <a:xfrm>
            <a:off x="3614444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DYNAMIC ROUTING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D2D1D96-0BA2-1EC5-E0FE-EEF3FEF52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51A377A6-385A-2D8E-A50A-2D53ACB2C2AC}"/>
              </a:ext>
            </a:extLst>
          </p:cNvPr>
          <p:cNvSpPr txBox="1"/>
          <p:nvPr/>
        </p:nvSpPr>
        <p:spPr>
          <a:xfrm>
            <a:off x="1043662" y="1238250"/>
            <a:ext cx="11148337" cy="55514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server.js</a:t>
            </a:r>
          </a:p>
          <a:p>
            <a:pPr>
              <a:lnSpc>
                <a:spcPts val="1200"/>
              </a:lnSpc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for (const [routeKey, handler] of Object.entries(apiRoutes))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[method, routePath] = routeKey.split(' ');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if (method !== req.method || !routePath.includes(':')) continue;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routeParts = routePath.split('/');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urlParts = req.url.split('/');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if (routeParts.length !== urlParts.length) continue;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params = {};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match = routeParts.</a:t>
            </a: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every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((part, i) =&gt; { </a:t>
            </a: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// /param1/:value1/p2/:v2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if (part.startsWith(':')) {</a:t>
            </a:r>
            <a:endParaRPr lang="hu-HU" sz="2000">
              <a:solidFill>
                <a:srgbClr val="FFDF20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  params[part.slice(1)] = urlParts[i];      </a:t>
            </a: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// route param = url value</a:t>
            </a: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  return true;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return part === urlParts[i];                </a:t>
            </a: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// non parameter segments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if (match) return handler(req, res, params);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200"/>
              </a:lnSpc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3" name="Nyíl: jobbra mutató 2">
            <a:extLst>
              <a:ext uri="{FF2B5EF4-FFF2-40B4-BE49-F238E27FC236}">
                <a16:creationId xmlns:a16="http://schemas.microsoft.com/office/drawing/2014/main" id="{DA1A1D3C-800C-EF57-546A-A19779650E47}"/>
              </a:ext>
            </a:extLst>
          </p:cNvPr>
          <p:cNvSpPr/>
          <p:nvPr/>
        </p:nvSpPr>
        <p:spPr>
          <a:xfrm>
            <a:off x="67159" y="1471329"/>
            <a:ext cx="976504" cy="39444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7753644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A9679-673D-F34D-1DFF-0FFA2FC6E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105F2EC9-9825-113D-AB4F-7412D3676D46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LAYERS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9523D4DA-316D-9A25-C2D1-EB3C904B9495}"/>
              </a:ext>
            </a:extLst>
          </p:cNvPr>
          <p:cNvSpPr txBox="1"/>
          <p:nvPr/>
        </p:nvSpPr>
        <p:spPr>
          <a:xfrm>
            <a:off x="1043663" y="1070685"/>
            <a:ext cx="11062611" cy="571901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400" b="1">
                <a:solidFill>
                  <a:srgbClr val="FFDF20"/>
                </a:solidFill>
              </a:rPr>
              <a:t>Client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Server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Logging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</a:t>
            </a:r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→ Configuration Layer</a:t>
            </a:r>
            <a:endParaRPr lang="hu-HU" sz="2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Auth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entication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 Layer 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Schema Validation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</a:t>
            </a:r>
            <a:r>
              <a:rPr lang="en-US" sz="2400" b="1">
                <a:solidFill>
                  <a:schemeClr val="bg1"/>
                </a:solidFill>
              </a:rPr>
              <a:t>→ Middleware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en-US" sz="2400" b="1">
                <a:solidFill>
                  <a:srgbClr val="FFDF20"/>
                </a:solidFill>
              </a:rPr>
              <a:t>→ Routing Layer 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</a:t>
            </a:r>
            <a:r>
              <a:rPr lang="en-US" sz="2400" b="1">
                <a:solidFill>
                  <a:schemeClr val="bg1"/>
                </a:solidFill>
              </a:rPr>
              <a:t>→ Controller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Domain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</a:t>
            </a:r>
            <a:r>
              <a:rPr lang="en-US" sz="2400" b="1">
                <a:solidFill>
                  <a:schemeClr val="bg1"/>
                </a:solidFill>
              </a:rPr>
              <a:t>→ Service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</a:t>
            </a:r>
            <a:r>
              <a:rPr lang="en-US" sz="2400" b="1">
                <a:solidFill>
                  <a:schemeClr val="bg1"/>
                </a:solidFill>
              </a:rPr>
              <a:t>→ Repository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</a:t>
            </a:r>
            <a:r>
              <a:rPr lang="en-US" sz="2400" b="1">
                <a:solidFill>
                  <a:schemeClr val="bg1"/>
                </a:solidFill>
              </a:rPr>
              <a:t>→ Data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</a:t>
            </a:r>
            <a:r>
              <a:rPr lang="en-US" sz="2400" b="1">
                <a:solidFill>
                  <a:schemeClr val="bg1"/>
                </a:solidFill>
              </a:rPr>
              <a:t>→ Response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Global Error Handler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473CB5E3-4249-CC7F-7A0B-22FC6C230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036A11C8-76E2-0DD4-EE32-388686D79C72}"/>
              </a:ext>
            </a:extLst>
          </p:cNvPr>
          <p:cNvSpPr/>
          <p:nvPr/>
        </p:nvSpPr>
        <p:spPr>
          <a:xfrm>
            <a:off x="4914900" y="4038600"/>
            <a:ext cx="3552825" cy="3810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3668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EBE349-ACA9-BAF2-9D3D-55A230EBD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2A2784AF-A8D6-74AC-862D-51CDCCD6D05F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LAYERS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3E2CFC1C-5E06-25A8-EC6F-D03A4B0BFD9A}"/>
              </a:ext>
            </a:extLst>
          </p:cNvPr>
          <p:cNvSpPr txBox="1"/>
          <p:nvPr/>
        </p:nvSpPr>
        <p:spPr>
          <a:xfrm>
            <a:off x="1043663" y="1070685"/>
            <a:ext cx="11062611" cy="571901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400" b="1">
                <a:solidFill>
                  <a:srgbClr val="FFDF20"/>
                </a:solidFill>
              </a:rPr>
              <a:t>Client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Server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Logging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</a:t>
            </a:r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→ Configuration Layer</a:t>
            </a:r>
            <a:endParaRPr lang="hu-HU" sz="2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Auth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entication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 Layer 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Schema Validation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</a:t>
            </a:r>
            <a:r>
              <a:rPr lang="en-US" sz="2400" b="1">
                <a:solidFill>
                  <a:schemeClr val="bg1"/>
                </a:solidFill>
              </a:rPr>
              <a:t>→ Middleware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en-US" sz="2400" b="1">
                <a:solidFill>
                  <a:srgbClr val="FFDF20"/>
                </a:solidFill>
              </a:rPr>
              <a:t>→ Routing Layer 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Controller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Domain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</a:t>
            </a:r>
            <a:r>
              <a:rPr lang="en-US" sz="2400" b="1">
                <a:solidFill>
                  <a:schemeClr val="bg1"/>
                </a:solidFill>
              </a:rPr>
              <a:t>→ Service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</a:t>
            </a:r>
            <a:r>
              <a:rPr lang="en-US" sz="2400" b="1">
                <a:solidFill>
                  <a:schemeClr val="bg1"/>
                </a:solidFill>
              </a:rPr>
              <a:t>→ Repository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</a:t>
            </a:r>
            <a:r>
              <a:rPr lang="en-US" sz="2400" b="1">
                <a:solidFill>
                  <a:schemeClr val="bg1"/>
                </a:solidFill>
              </a:rPr>
              <a:t>→ Data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</a:t>
            </a:r>
            <a:r>
              <a:rPr lang="en-US" sz="2400" b="1">
                <a:solidFill>
                  <a:schemeClr val="bg1"/>
                </a:solidFill>
              </a:rPr>
              <a:t>→ Response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Global Error Handler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C829ADF-990E-D36C-C078-8D1F63D87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BC354FCE-538E-0E88-6205-38C3FBE2B66E}"/>
              </a:ext>
            </a:extLst>
          </p:cNvPr>
          <p:cNvSpPr/>
          <p:nvPr/>
        </p:nvSpPr>
        <p:spPr>
          <a:xfrm>
            <a:off x="6281971" y="4762878"/>
            <a:ext cx="3552825" cy="110376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1563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DCEC6-37F1-5F61-FA91-067EA9A1D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B06D0A77-BAF0-52A5-7A2F-20BB8EBA4770}"/>
              </a:ext>
            </a:extLst>
          </p:cNvPr>
          <p:cNvSpPr txBox="1"/>
          <p:nvPr/>
        </p:nvSpPr>
        <p:spPr>
          <a:xfrm>
            <a:off x="1803700" y="68295"/>
            <a:ext cx="85846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CENTRALIZE DATA MANAGEMENT PROCESSES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C99840F-FEE0-8F72-C57A-E47A2E4EF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B1F6F5FD-41E3-2E9D-52F8-C1B1FAAB9340}"/>
              </a:ext>
            </a:extLst>
          </p:cNvPr>
          <p:cNvSpPr txBox="1"/>
          <p:nvPr/>
        </p:nvSpPr>
        <p:spPr>
          <a:xfrm>
            <a:off x="1813204" y="1181100"/>
            <a:ext cx="10137367" cy="55514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services/todoService.js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todos from '../data/todos.js';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function addTodo(id, title)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todo = { id, title };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todos.push(todo);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return todo;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function getTodos()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return todos;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function deleteTodo(id)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index = todos.findIndex(t =&gt; t.id === id);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if (index === -1) return null;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removed = todos.splice(index, 1)[0];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return removed;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{ addTodo, getTodos, deleteTodo };</a:t>
            </a:r>
          </a:p>
        </p:txBody>
      </p:sp>
    </p:spTree>
    <p:extLst>
      <p:ext uri="{BB962C8B-B14F-4D97-AF65-F5344CB8AC3E}">
        <p14:creationId xmlns:p14="http://schemas.microsoft.com/office/powerpoint/2010/main" val="3196129053"/>
      </p:ext>
    </p:ext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72FCB7-5F59-8681-A15E-3286D00B5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17888744-8E9E-7717-7015-87FF32FDA6F7}"/>
              </a:ext>
            </a:extLst>
          </p:cNvPr>
          <p:cNvSpPr txBox="1"/>
          <p:nvPr/>
        </p:nvSpPr>
        <p:spPr>
          <a:xfrm>
            <a:off x="1803700" y="68295"/>
            <a:ext cx="85846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CENTRALIZE DATA MANAGEMENT PROCESSES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41B9CDF-D9B9-AA78-9ECA-91D805DC3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FAEAEBF8-08AD-DA0B-636B-3E069346AE79}"/>
              </a:ext>
            </a:extLst>
          </p:cNvPr>
          <p:cNvSpPr txBox="1"/>
          <p:nvPr/>
        </p:nvSpPr>
        <p:spPr>
          <a:xfrm>
            <a:off x="1813204" y="1238250"/>
            <a:ext cx="10137367" cy="55514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controllers/addTodoController.js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import todoService from '../services/todoService.js';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export default function addTodoController(req, res, body)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{ id, title } = body;</a:t>
            </a: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const todo = todoService.addTodo(id, title);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res.writeHead(201, { 'Content-Type': 'application/json' });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res.end(JSON.stringify(todo));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controllers/getTodosController.js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import todoService from '../services/todoService.js';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export default function getTodosController(req, res) {</a:t>
            </a: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const todos = todoService.getTodos();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res.writeHead(200, { 'Content-Type': 'application/json' });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res.end(JSON.stringify(todos));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657902"/>
      </p:ext>
    </p:extLst>
  </p:cSld>
  <p:clrMapOvr>
    <a:masterClrMapping/>
  </p:clrMapOvr>
  <p:transition spd="slow">
    <p:push dir="u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ED6F22-36C7-AA5C-7EAA-0BB94C8A6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FE8E688D-398E-1490-6B92-DC854E196729}"/>
              </a:ext>
            </a:extLst>
          </p:cNvPr>
          <p:cNvSpPr txBox="1"/>
          <p:nvPr/>
        </p:nvSpPr>
        <p:spPr>
          <a:xfrm>
            <a:off x="1803700" y="68295"/>
            <a:ext cx="85846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CENTRALIZE DATA MANAGEMENT PROCESSES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99955C6-DA93-C5E2-D376-1EE63D9E7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142D3393-EB01-EB01-92D2-90999737656C}"/>
              </a:ext>
            </a:extLst>
          </p:cNvPr>
          <p:cNvSpPr txBox="1"/>
          <p:nvPr/>
        </p:nvSpPr>
        <p:spPr>
          <a:xfrm>
            <a:off x="1813204" y="1238250"/>
            <a:ext cx="10137367" cy="55514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controllers/deleteTodoController.js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import todoService from '../services/todoService.js';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export default function deleteTodoController(req, res, params)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const removed = todoService.deleteTodo(params.id);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if (!removed)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res.writeHead(404, { 'Content-Type': 'application/json' });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return res.end(JSON.stringify({ error: "Todo not found" }));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res.writeHead(200, { 'Content-Type': 'application/json' });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res.end(JSON.stringify(removed));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069135"/>
      </p:ext>
    </p:extLst>
  </p:cSld>
  <p:clrMapOvr>
    <a:masterClrMapping/>
  </p:clrMapOvr>
  <p:transition spd="slow"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BEF986-3F79-36A5-2583-F9FA4ECA5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B70BF632-A4B8-4DD1-D2EA-165087BFFA52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LAYERS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5535B0F9-2775-2192-00F2-3C57E1507943}"/>
              </a:ext>
            </a:extLst>
          </p:cNvPr>
          <p:cNvSpPr txBox="1"/>
          <p:nvPr/>
        </p:nvSpPr>
        <p:spPr>
          <a:xfrm>
            <a:off x="1043663" y="1070685"/>
            <a:ext cx="11062611" cy="571901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400" b="1">
                <a:solidFill>
                  <a:srgbClr val="FFDF20"/>
                </a:solidFill>
              </a:rPr>
              <a:t>Client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Server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Logging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</a:t>
            </a:r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→ Configuration Layer</a:t>
            </a:r>
            <a:endParaRPr lang="hu-HU" sz="2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Auth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entication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 Layer 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Schema Validation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</a:t>
            </a:r>
            <a:r>
              <a:rPr lang="en-US" sz="2400" b="1">
                <a:solidFill>
                  <a:schemeClr val="bg1"/>
                </a:solidFill>
              </a:rPr>
              <a:t>→ Middleware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en-US" sz="2400" b="1">
                <a:solidFill>
                  <a:srgbClr val="FFDF20"/>
                </a:solidFill>
              </a:rPr>
              <a:t>→ Routing Layer 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Controller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Domain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</a:t>
            </a:r>
            <a:r>
              <a:rPr lang="en-US" sz="2400" b="1">
                <a:solidFill>
                  <a:schemeClr val="bg1"/>
                </a:solidFill>
              </a:rPr>
              <a:t>→ Service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</a:t>
            </a:r>
            <a:r>
              <a:rPr lang="en-US" sz="2400" b="1">
                <a:solidFill>
                  <a:schemeClr val="bg1"/>
                </a:solidFill>
              </a:rPr>
              <a:t>→ Repository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</a:t>
            </a:r>
            <a:r>
              <a:rPr lang="en-US" sz="2400" b="1">
                <a:solidFill>
                  <a:schemeClr val="bg1"/>
                </a:solidFill>
              </a:rPr>
              <a:t>→ Data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</a:t>
            </a:r>
            <a:r>
              <a:rPr lang="en-US" sz="2400" b="1">
                <a:solidFill>
                  <a:schemeClr val="bg1"/>
                </a:solidFill>
              </a:rPr>
              <a:t>→ Response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Global Error Handler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5B6EEEE-4E70-03B6-8EAF-5AC89B559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FF540063-8FC7-37C9-7ABB-C6AAE1174232}"/>
              </a:ext>
            </a:extLst>
          </p:cNvPr>
          <p:cNvSpPr/>
          <p:nvPr/>
        </p:nvSpPr>
        <p:spPr>
          <a:xfrm>
            <a:off x="6281971" y="4762878"/>
            <a:ext cx="3552825" cy="110376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6311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F6EED6-50D7-7B04-B16A-CF95DCB5C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AB6F4451-068E-75D1-C26B-27B65A1D292E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LAYERS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53E3B650-B985-E94A-8D48-8AD341AF1F34}"/>
              </a:ext>
            </a:extLst>
          </p:cNvPr>
          <p:cNvSpPr txBox="1"/>
          <p:nvPr/>
        </p:nvSpPr>
        <p:spPr>
          <a:xfrm>
            <a:off x="1043663" y="1070685"/>
            <a:ext cx="11062611" cy="571901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400" b="1">
                <a:solidFill>
                  <a:srgbClr val="FFDF20"/>
                </a:solidFill>
              </a:rPr>
              <a:t>Client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Server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Logging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</a:t>
            </a:r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→ Configuration Layer</a:t>
            </a:r>
            <a:endParaRPr lang="hu-HU" sz="2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Auth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entication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 Layer 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Schema Validation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</a:t>
            </a:r>
            <a:r>
              <a:rPr lang="en-US" sz="2400" b="1">
                <a:solidFill>
                  <a:schemeClr val="bg1"/>
                </a:solidFill>
              </a:rPr>
              <a:t>→ Middleware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en-US" sz="2400" b="1">
                <a:solidFill>
                  <a:srgbClr val="FFDF20"/>
                </a:solidFill>
              </a:rPr>
              <a:t>→ Routing Layer 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Controller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Domain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</a:t>
            </a:r>
            <a:r>
              <a:rPr lang="en-US" sz="2400" b="1">
                <a:solidFill>
                  <a:srgbClr val="FFDF20"/>
                </a:solidFill>
              </a:rPr>
              <a:t>→ Service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</a:t>
            </a:r>
            <a:r>
              <a:rPr lang="en-US" sz="2400" b="1">
                <a:solidFill>
                  <a:schemeClr val="bg1"/>
                </a:solidFill>
              </a:rPr>
              <a:t>→ Repository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</a:t>
            </a:r>
            <a:r>
              <a:rPr lang="en-US" sz="2400" b="1">
                <a:solidFill>
                  <a:schemeClr val="bg1"/>
                </a:solidFill>
              </a:rPr>
              <a:t>→ Data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</a:t>
            </a:r>
            <a:r>
              <a:rPr lang="en-US" sz="2400" b="1">
                <a:solidFill>
                  <a:schemeClr val="bg1"/>
                </a:solidFill>
              </a:rPr>
              <a:t>→ Response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Global Error Handler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1C618B58-AA18-87B3-91E7-DA5DA88D7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Téglalap: lekerekített 1">
            <a:extLst>
              <a:ext uri="{FF2B5EF4-FFF2-40B4-BE49-F238E27FC236}">
                <a16:creationId xmlns:a16="http://schemas.microsoft.com/office/drawing/2014/main" id="{567A4406-BB28-CF0F-0F17-5DB6868CF958}"/>
              </a:ext>
            </a:extLst>
          </p:cNvPr>
          <p:cNvSpPr/>
          <p:nvPr/>
        </p:nvSpPr>
        <p:spPr>
          <a:xfrm>
            <a:off x="3955230" y="3305271"/>
            <a:ext cx="3552825" cy="388544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88226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36F896-BB40-1200-8D5C-18344A6EC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99C1C196-6C37-775A-5E79-C056D8BC99D1}"/>
              </a:ext>
            </a:extLst>
          </p:cNvPr>
          <p:cNvSpPr txBox="1"/>
          <p:nvPr/>
        </p:nvSpPr>
        <p:spPr>
          <a:xfrm>
            <a:off x="3614444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SERVER SIDE VALIDATION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60C181B-EE8A-FF5E-57B5-7AAEA60CE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970EB84B-361B-120E-8D2A-7AFBDAC849DD}"/>
              </a:ext>
            </a:extLst>
          </p:cNvPr>
          <p:cNvSpPr txBox="1"/>
          <p:nvPr/>
        </p:nvSpPr>
        <p:spPr>
          <a:xfrm>
            <a:off x="1043663" y="1238250"/>
            <a:ext cx="10738762" cy="55514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middleware/validateTodo.js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function validateTodo(req, res, body)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if (!body || typeof body !== 'object')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res.writeHead(400, { 'Content-Type': 'application/json' });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res.end(JSON.stringify({ error: "Request body must be JSON" }));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return false;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{ id, title } = body;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if (!id || !title)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res.writeHead(400, { 'Content-Type': 'application/json' });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res.end(JSON.stringify({ error: "Both id and title are required" }));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return false;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return true; // validation passed</a:t>
            </a: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2039509"/>
      </p:ext>
    </p:extLst>
  </p:cSld>
  <p:clrMapOvr>
    <a:masterClrMapping/>
  </p:clrMapOvr>
  <p:transition spd="slow">
    <p:push dir="u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29E506-B90B-DA4F-8AF2-D2A169D7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A259D9ED-A831-E88D-4A6B-FC33379428BD}"/>
              </a:ext>
            </a:extLst>
          </p:cNvPr>
          <p:cNvSpPr txBox="1"/>
          <p:nvPr/>
        </p:nvSpPr>
        <p:spPr>
          <a:xfrm>
            <a:off x="3614444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SERVER SIDE VALIDATION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DCE5A3AF-FF6F-3205-BD78-32067F457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01C941DD-38B1-00E6-5824-5D81D5F06236}"/>
              </a:ext>
            </a:extLst>
          </p:cNvPr>
          <p:cNvSpPr txBox="1"/>
          <p:nvPr/>
        </p:nvSpPr>
        <p:spPr>
          <a:xfrm>
            <a:off x="1043663" y="1238250"/>
            <a:ext cx="10738762" cy="55514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controllers/addTodoController.js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todoService from '../services/todoService.js';</a:t>
            </a: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import validateTodo from '../middleware/validateTodo.js';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export default function addTodoController(req, res, body) {</a:t>
            </a:r>
          </a:p>
          <a:p>
            <a:pPr>
              <a:spcBef>
                <a:spcPts val="6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Run validation first</a:t>
            </a:r>
          </a:p>
          <a:p>
            <a:pPr>
              <a:spcBef>
                <a:spcPts val="6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const ok = validateTodo(req, res, body);</a:t>
            </a: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if (!ok) return;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middleware already sent the error response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  // Extract id and title from body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{ id, title } = body;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todo = todoService.addTodo(id, title);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res.writeHead(201, { 'Content-Type': 'application/json' });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res.end(JSON.stringify(todo));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05895488"/>
      </p:ext>
    </p:extLst>
  </p:cSld>
  <p:clrMapOvr>
    <a:masterClrMapping/>
  </p:clrMapOvr>
  <p:transition spd="slow">
    <p:push dir="u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D3A1C6-1441-5DB2-63EC-1A8F39374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FD91B5CC-2A84-8D4A-D381-CF4A35D1A4D0}"/>
              </a:ext>
            </a:extLst>
          </p:cNvPr>
          <p:cNvSpPr txBox="1"/>
          <p:nvPr/>
        </p:nvSpPr>
        <p:spPr>
          <a:xfrm>
            <a:off x="3614444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SERVER SIDE VALIDATION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24C3E15-89F4-8F75-891E-703CDEB65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9BD57C1A-3846-CBC1-8981-37BEB730C8D6}"/>
              </a:ext>
            </a:extLst>
          </p:cNvPr>
          <p:cNvSpPr txBox="1"/>
          <p:nvPr/>
        </p:nvSpPr>
        <p:spPr>
          <a:xfrm>
            <a:off x="1043663" y="1238251"/>
            <a:ext cx="10738762" cy="459218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middleware/validateId.js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function validateId(req, res, params)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if (!params || !params.id) {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res.writeHead(400, { 'Content-Type': 'application/json' });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res.end(JSON.stringify({ error: "Missing id parameter" }));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return false;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return true;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80233020"/>
      </p:ext>
    </p:extLst>
  </p:cSld>
  <p:clrMapOvr>
    <a:masterClrMapping/>
  </p:clrMapOvr>
  <p:transition spd="slow">
    <p:push dir="u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4D71E-A186-A84B-5307-0B1AB9AEF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188DBA07-C696-668F-B2D2-B8706CE6D267}"/>
              </a:ext>
            </a:extLst>
          </p:cNvPr>
          <p:cNvSpPr txBox="1"/>
          <p:nvPr/>
        </p:nvSpPr>
        <p:spPr>
          <a:xfrm>
            <a:off x="3614444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SERVER SIDE VALIDATION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F1ECEAA-54D3-9B79-0C5F-437950940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29C4AF2A-CB83-FE84-72A3-565B2F28393D}"/>
              </a:ext>
            </a:extLst>
          </p:cNvPr>
          <p:cNvSpPr txBox="1"/>
          <p:nvPr/>
        </p:nvSpPr>
        <p:spPr>
          <a:xfrm>
            <a:off x="1043663" y="1238250"/>
            <a:ext cx="10738762" cy="55514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controllers/deleteTodoController.js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todoService from '../services/todoService.js';</a:t>
            </a: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import validateId from '../middleware/validateId.js';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export default function deleteTodoController(req, res, params) {</a:t>
            </a:r>
          </a:p>
          <a:p>
            <a:pPr>
              <a:spcBef>
                <a:spcPts val="6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const ok = validateId(req, res, params);</a:t>
            </a: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if (!ok) return;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middleware already sent the error response</a:t>
            </a:r>
          </a:p>
          <a:p>
            <a:endParaRPr lang="hu-HU" sz="2000" b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removed = todoService.deleteTodo(params.id);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if (!removed)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res.writeHead(404, { 'Content-Type': 'application/json' });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return res.end(JSON.stringify({ error: "Todo not found" }));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res.writeHead(200, { 'Content-Type': 'application/json' });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res.end(JSON.stringify(removed));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3012650"/>
      </p:ext>
    </p:extLst>
  </p:cSld>
  <p:clrMapOvr>
    <a:masterClrMapping/>
  </p:clrMapOvr>
  <p:transition spd="slow">
    <p:push dir="u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48B845-80FB-5BB0-4FAE-6B914812C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81F5DC8B-D342-41F9-8E5F-47243DCBC37A}"/>
              </a:ext>
            </a:extLst>
          </p:cNvPr>
          <p:cNvSpPr txBox="1"/>
          <p:nvPr/>
        </p:nvSpPr>
        <p:spPr>
          <a:xfrm>
            <a:off x="3614444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SERVER SIDE VALIDATION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5B82F0F-5C6A-E42A-DDDD-B4EABD17F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AB165D3A-6169-9CB3-8F21-C0DCD6AE3EC7}"/>
              </a:ext>
            </a:extLst>
          </p:cNvPr>
          <p:cNvSpPr txBox="1"/>
          <p:nvPr/>
        </p:nvSpPr>
        <p:spPr>
          <a:xfrm>
            <a:off x="1043663" y="1238250"/>
            <a:ext cx="10738762" cy="555145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script.js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deleteForm.addEventListener('submit', async (e) =&gt;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e.preventDefault();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id = document.getElementById('deleteTodoId').value;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try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const res = await fetch(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`/api/todos/${id}`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,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  method: 'DELETE'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});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const data = await res.json();</a:t>
            </a:r>
          </a:p>
          <a:p>
            <a:pPr>
              <a:spcBef>
                <a:spcPts val="6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  if (!res.ok) t</a:t>
            </a:r>
            <a:r>
              <a:rPr lang="en-US" sz="2000" b="1">
                <a:solidFill>
                  <a:schemeClr val="bg1"/>
                </a:solidFill>
                <a:latin typeface="Consolas" panose="020B0609020204030204" pitchFamily="49" charset="0"/>
              </a:rPr>
              <a:t>hrow new Error(data.error);</a:t>
            </a: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console.log('Todo deleted:', data);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 catch (err)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da-DK" sz="2000" b="1">
                <a:solidFill>
                  <a:schemeClr val="bg1"/>
                </a:solidFill>
                <a:latin typeface="Consolas" panose="020B0609020204030204" pitchFamily="49" charset="0"/>
              </a:rPr>
              <a:t>alert('Error 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deleting</a:t>
            </a:r>
            <a:r>
              <a:rPr lang="da-DK" sz="2000" b="1">
                <a:solidFill>
                  <a:schemeClr val="bg1"/>
                </a:solidFill>
                <a:latin typeface="Consolas" panose="020B0609020204030204" pitchFamily="49" charset="0"/>
              </a:rPr>
              <a:t> todo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: </a:t>
            </a:r>
            <a:r>
              <a:rPr lang="da-DK" sz="2000" b="1">
                <a:solidFill>
                  <a:schemeClr val="bg1"/>
                </a:solidFill>
                <a:latin typeface="Consolas" panose="020B0609020204030204" pitchFamily="49" charset="0"/>
              </a:rPr>
              <a:t>' + err.message);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3" name="Nyíl: jobbra mutató 2">
            <a:extLst>
              <a:ext uri="{FF2B5EF4-FFF2-40B4-BE49-F238E27FC236}">
                <a16:creationId xmlns:a16="http://schemas.microsoft.com/office/drawing/2014/main" id="{EDBC024D-2E3B-F541-280E-F133AF689649}"/>
              </a:ext>
            </a:extLst>
          </p:cNvPr>
          <p:cNvSpPr/>
          <p:nvPr/>
        </p:nvSpPr>
        <p:spPr>
          <a:xfrm>
            <a:off x="67159" y="4447613"/>
            <a:ext cx="976504" cy="39444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Nyíl: jobbra mutató 3">
            <a:extLst>
              <a:ext uri="{FF2B5EF4-FFF2-40B4-BE49-F238E27FC236}">
                <a16:creationId xmlns:a16="http://schemas.microsoft.com/office/drawing/2014/main" id="{9692BBBD-71CA-0D46-DA2A-08FF8FB48B68}"/>
              </a:ext>
            </a:extLst>
          </p:cNvPr>
          <p:cNvSpPr/>
          <p:nvPr/>
        </p:nvSpPr>
        <p:spPr>
          <a:xfrm>
            <a:off x="67159" y="5601820"/>
            <a:ext cx="976504" cy="39444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1313567"/>
      </p:ext>
    </p:extLst>
  </p:cSld>
  <p:clrMapOvr>
    <a:masterClrMapping/>
  </p:clrMapOvr>
  <p:transition spd="slow">
    <p:push dir="u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7F05C9-C542-A6BA-EA34-C9081EFE6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A39B9AE4-C9D5-9A66-CD24-80CE88BDDC2F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LAYERS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E8EF1A91-CCE6-610A-2875-2081F3E5642E}"/>
              </a:ext>
            </a:extLst>
          </p:cNvPr>
          <p:cNvSpPr txBox="1"/>
          <p:nvPr/>
        </p:nvSpPr>
        <p:spPr>
          <a:xfrm>
            <a:off x="1043663" y="1070685"/>
            <a:ext cx="11062611" cy="571901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en-US" sz="2400" b="1">
                <a:solidFill>
                  <a:srgbClr val="FFDF20"/>
                </a:solidFill>
              </a:rPr>
              <a:t>Client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Server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Logging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</a:t>
            </a:r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→ Configuration Layer</a:t>
            </a:r>
            <a:endParaRPr lang="hu-HU" sz="2400" b="1">
              <a:solidFill>
                <a:schemeClr val="bg1">
                  <a:lumMod val="50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Auth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entication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 Layer 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Schema Validation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</a:t>
            </a: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Middleware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en-US" sz="2400" b="1">
                <a:solidFill>
                  <a:srgbClr val="FFDF20"/>
                </a:solidFill>
              </a:rPr>
              <a:t>→ Routing Layer 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rgbClr val="FFDF20"/>
                </a:solidFill>
              </a:rPr>
              <a:t>	</a:t>
            </a:r>
            <a:r>
              <a:rPr lang="en-US" sz="2400" b="1">
                <a:solidFill>
                  <a:srgbClr val="FFDF20"/>
                </a:solidFill>
              </a:rPr>
              <a:t>→ Controller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</a:t>
            </a:r>
            <a:r>
              <a:rPr lang="hu-HU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Domain Layer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</a:t>
            </a:r>
            <a:r>
              <a:rPr lang="en-US" sz="2400" b="1">
                <a:solidFill>
                  <a:srgbClr val="FFDF20"/>
                </a:solidFill>
              </a:rPr>
              <a:t>→ Service Layer</a:t>
            </a:r>
            <a:endParaRPr lang="hu-HU" sz="2400" b="1">
              <a:solidFill>
                <a:srgbClr val="FFDF20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</a:t>
            </a:r>
            <a:r>
              <a:rPr lang="en-US" sz="2400" b="1">
                <a:solidFill>
                  <a:schemeClr val="bg1"/>
                </a:solidFill>
              </a:rPr>
              <a:t>→ Repository Layer 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</a:t>
            </a:r>
            <a:r>
              <a:rPr lang="en-US" sz="2400" b="1">
                <a:solidFill>
                  <a:schemeClr val="bg1"/>
                </a:solidFill>
              </a:rPr>
              <a:t>→ Data Layer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</a:t>
            </a:r>
            <a:r>
              <a:rPr lang="en-US" sz="2400" b="1">
                <a:solidFill>
                  <a:schemeClr val="bg1"/>
                </a:solidFill>
              </a:rPr>
              <a:t>→ Response</a:t>
            </a:r>
            <a:endParaRPr lang="hu-HU" sz="2400" b="1">
              <a:solidFill>
                <a:schemeClr val="bg1"/>
              </a:solidFill>
            </a:endParaRP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400" b="1">
                <a:solidFill>
                  <a:schemeClr val="bg1"/>
                </a:solidFill>
              </a:rPr>
              <a:t>														</a:t>
            </a:r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→ Global Error Handler</a:t>
            </a:r>
            <a:endParaRPr lang="hu-HU" sz="2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F2B2479-2F32-A9EF-A1A5-13DCF4F21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5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0E8730-05E7-8D5D-031D-2D696A7B2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270156D3-4AB1-74F3-E5C9-6771CD99A29E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INTRODUCTION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41CDA6DB-938F-C485-525A-17FF38C6FC69}"/>
              </a:ext>
            </a:extLst>
          </p:cNvPr>
          <p:cNvSpPr txBox="1"/>
          <p:nvPr/>
        </p:nvSpPr>
        <p:spPr>
          <a:xfrm>
            <a:off x="67158" y="1250040"/>
            <a:ext cx="2927053" cy="462220"/>
          </a:xfrm>
          <a:prstGeom prst="rect">
            <a:avLst/>
          </a:prstGeom>
          <a:noFill/>
          <a:ln w="12700">
            <a:solidFill>
              <a:srgbClr val="FFDF20"/>
            </a:solidFill>
          </a:ln>
        </p:spPr>
        <p:txBody>
          <a:bodyPr wrap="square" rtlCol="0">
            <a:noAutofit/>
          </a:bodyPr>
          <a:lstStyle/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npm install express</a:t>
            </a:r>
          </a:p>
          <a:p>
            <a:pPr>
              <a:tabLst>
                <a:tab pos="542925" algn="l"/>
                <a:tab pos="1076325" algn="l"/>
                <a:tab pos="1619250" algn="l"/>
                <a:tab pos="2152650" algn="l"/>
                <a:tab pos="2695575" algn="l"/>
                <a:tab pos="3228975" algn="l"/>
                <a:tab pos="3771900" algn="l"/>
                <a:tab pos="4305300" algn="l"/>
                <a:tab pos="4848225" algn="l"/>
                <a:tab pos="5381625" algn="l"/>
                <a:tab pos="5924550" algn="l"/>
                <a:tab pos="6457950" algn="l"/>
                <a:tab pos="7000875" algn="l"/>
                <a:tab pos="7534275" algn="l"/>
                <a:tab pos="8077200" algn="l"/>
                <a:tab pos="8610600" algn="l"/>
              </a:tabLst>
            </a:pPr>
            <a:endParaRPr lang="hu-HU" sz="2000" b="1">
              <a:solidFill>
                <a:srgbClr val="FFDF2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2C06155-47EC-BF90-5200-BC2D8059C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65D1EB94-B088-B2CC-8D59-A75C65EFB40B}"/>
              </a:ext>
            </a:extLst>
          </p:cNvPr>
          <p:cNvSpPr txBox="1"/>
          <p:nvPr/>
        </p:nvSpPr>
        <p:spPr>
          <a:xfrm>
            <a:off x="3614437" y="1250039"/>
            <a:ext cx="8200540" cy="5539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en-US" sz="2200">
                <a:solidFill>
                  <a:schemeClr val="bg1"/>
                </a:solidFill>
                <a:latin typeface="+mj-lt"/>
              </a:rPr>
              <a:t>Introducing Express into a previously hand‑written Node.js HTTP server eliminates nearly all low‑level boilerplate and replaces it with high‑level abstractions that simplify routing, request handling, response formatting, and middleware composition.</a:t>
            </a:r>
            <a:endParaRPr lang="hu-HU" sz="2200">
              <a:solidFill>
                <a:schemeClr val="bg1"/>
              </a:solidFill>
              <a:latin typeface="+mj-lt"/>
            </a:endParaRPr>
          </a:p>
          <a:p>
            <a:r>
              <a:rPr lang="en-US" sz="2200">
                <a:solidFill>
                  <a:schemeClr val="bg1"/>
                </a:solidFill>
                <a:latin typeface="+mj-lt"/>
              </a:rPr>
              <a:t>Express enhances both the </a:t>
            </a:r>
            <a:r>
              <a:rPr lang="en-US" sz="2200" b="1">
                <a:solidFill>
                  <a:srgbClr val="FFDF20"/>
                </a:solidFill>
                <a:latin typeface="+mj-lt"/>
              </a:rPr>
              <a:t>req</a:t>
            </a:r>
            <a:r>
              <a:rPr lang="en-US" sz="2200">
                <a:solidFill>
                  <a:schemeClr val="bg1"/>
                </a:solidFill>
                <a:latin typeface="+mj-lt"/>
              </a:rPr>
              <a:t> and </a:t>
            </a:r>
            <a:r>
              <a:rPr lang="en-US" sz="2200" b="1">
                <a:solidFill>
                  <a:srgbClr val="FFDF20"/>
                </a:solidFill>
                <a:latin typeface="+mj-lt"/>
              </a:rPr>
              <a:t>res</a:t>
            </a:r>
            <a:r>
              <a:rPr lang="en-US" sz="2200">
                <a:solidFill>
                  <a:schemeClr val="bg1"/>
                </a:solidFill>
                <a:latin typeface="+mj-lt"/>
              </a:rPr>
              <a:t> objects with powerful helper methods, </a:t>
            </a:r>
            <a:r>
              <a:rPr lang="en-US" sz="2200">
                <a:solidFill>
                  <a:srgbClr val="FFDF20"/>
                </a:solidFill>
                <a:latin typeface="+mj-lt"/>
              </a:rPr>
              <a:t>removing the need for manual chunk collection, JSON parsing, header management, and URL parsing</a:t>
            </a:r>
            <a:r>
              <a:rPr lang="en-US" sz="2200">
                <a:solidFill>
                  <a:schemeClr val="bg1"/>
                </a:solidFill>
                <a:latin typeface="+mj-lt"/>
              </a:rPr>
              <a:t>.</a:t>
            </a:r>
            <a:endParaRPr lang="hu-HU" sz="2200">
              <a:solidFill>
                <a:schemeClr val="bg1"/>
              </a:solidFill>
              <a:latin typeface="+mj-lt"/>
            </a:endParaRPr>
          </a:p>
          <a:p>
            <a:r>
              <a:rPr lang="en-US" sz="2200">
                <a:solidFill>
                  <a:schemeClr val="bg1"/>
                </a:solidFill>
                <a:latin typeface="+mj-lt"/>
              </a:rPr>
              <a:t>It introduces a declarative routing system that replaces custom route maps and string parsing, and it provides a unified middleware pipeline that allows validation, authentication, logging, and error handling to be composed cleanly and consistently.</a:t>
            </a:r>
            <a:endParaRPr lang="hu-HU" sz="2200">
              <a:solidFill>
                <a:schemeClr val="bg1"/>
              </a:solidFill>
              <a:latin typeface="+mj-lt"/>
            </a:endParaRPr>
          </a:p>
          <a:p>
            <a:r>
              <a:rPr lang="en-US" sz="2200">
                <a:solidFill>
                  <a:schemeClr val="bg1"/>
                </a:solidFill>
                <a:latin typeface="+mj-lt"/>
              </a:rPr>
              <a:t>Express also centralizes error handling, simplifies static file serving, and enables modular route organization through </a:t>
            </a:r>
            <a:r>
              <a:rPr lang="en-US" sz="2200" b="1">
                <a:solidFill>
                  <a:srgbClr val="FFDF20"/>
                </a:solidFill>
                <a:latin typeface="+mj-lt"/>
              </a:rPr>
              <a:t>Router()</a:t>
            </a:r>
            <a:r>
              <a:rPr lang="en-US" sz="2200">
                <a:solidFill>
                  <a:schemeClr val="bg1"/>
                </a:solidFill>
                <a:latin typeface="+mj-lt"/>
              </a:rPr>
              <a:t> instances.</a:t>
            </a:r>
            <a:endParaRPr lang="hu-HU" sz="2200">
              <a:solidFill>
                <a:schemeClr val="bg1"/>
              </a:solidFill>
              <a:latin typeface="+mj-lt"/>
            </a:endParaRPr>
          </a:p>
          <a:p>
            <a:r>
              <a:rPr lang="en-US" sz="2200">
                <a:solidFill>
                  <a:schemeClr val="bg1"/>
                </a:solidFill>
                <a:latin typeface="+mj-lt"/>
              </a:rPr>
              <a:t>Overall, Express transforms a low‑level, verbose, error‑prone server into a structured, maintainable, and scalable web application framework.</a:t>
            </a:r>
            <a:endParaRPr lang="hu-HU" sz="22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50791732"/>
      </p:ext>
    </p:extLst>
  </p:cSld>
  <p:clrMapOvr>
    <a:masterClrMapping/>
  </p:clrMapOvr>
  <p:transition spd="slow">
    <p:push dir="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55BA3-A173-82B9-45DA-D6E233AF8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32F34414-850A-29B5-7CFE-D6AEF68F357A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INTRODUCTION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A72E7A9-7981-8300-217F-E995E30A9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graphicFrame>
        <p:nvGraphicFramePr>
          <p:cNvPr id="3" name="Táblázat 2">
            <a:extLst>
              <a:ext uri="{FF2B5EF4-FFF2-40B4-BE49-F238E27FC236}">
                <a16:creationId xmlns:a16="http://schemas.microsoft.com/office/drawing/2014/main" id="{476A8998-60C1-DC6E-E100-D3BDB3360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97147"/>
              </p:ext>
            </p:extLst>
          </p:nvPr>
        </p:nvGraphicFramePr>
        <p:xfrm>
          <a:off x="67158" y="1268540"/>
          <a:ext cx="12026230" cy="5481504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5661289">
                  <a:extLst>
                    <a:ext uri="{9D8B030D-6E8A-4147-A177-3AD203B41FA5}">
                      <a16:colId xmlns:a16="http://schemas.microsoft.com/office/drawing/2014/main" val="378481349"/>
                    </a:ext>
                  </a:extLst>
                </a:gridCol>
                <a:gridCol w="6364941">
                  <a:extLst>
                    <a:ext uri="{9D8B030D-6E8A-4147-A177-3AD203B41FA5}">
                      <a16:colId xmlns:a16="http://schemas.microsoft.com/office/drawing/2014/main" val="12034409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u-HU" sz="1400">
                          <a:solidFill>
                            <a:schemeClr val="bg1"/>
                          </a:solidFill>
                          <a:latin typeface="+mj-lt"/>
                        </a:rPr>
                        <a:t>Raw Node.js</a:t>
                      </a:r>
                    </a:p>
                  </a:txBody>
                  <a:tcPr marL="73751" marR="73751" marT="36876" marB="36876" anchor="ctr"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u-HU" sz="1400">
                          <a:solidFill>
                            <a:schemeClr val="bg1"/>
                          </a:solidFill>
                          <a:latin typeface="+mj-lt"/>
                        </a:rPr>
                        <a:t>Express Style Coding</a:t>
                      </a:r>
                      <a:endParaRPr lang="hi-IN" sz="140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3751" marR="73751" marT="36876" marB="36876" anchor="ctr"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622998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Static file serving </a:t>
                      </a:r>
                      <a:r>
                        <a:rPr lang="hu-HU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with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fs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readFile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and MIME lookup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u-HU" sz="1400">
                          <a:solidFill>
                            <a:schemeClr val="bg1"/>
                          </a:solidFill>
                          <a:latin typeface="+mj-lt"/>
                        </a:rPr>
                        <a:t>Built-in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express.static()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handles everything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513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Manual URL parsing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+mj-lt"/>
                        </a:rPr>
                        <a:t> </a:t>
                      </a:r>
                      <a:r>
                        <a:rPr lang="en-US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req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url</a:t>
                      </a:r>
                      <a:r>
                        <a:rPr lang="en-US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string splitting, param extraction)</a:t>
                      </a:r>
                      <a:endParaRPr lang="en-US" sz="140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Automatic query parsing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+mj-lt"/>
                        </a:rPr>
                        <a:t> (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req.query</a:t>
                      </a:r>
                      <a:r>
                        <a:rPr lang="hu-HU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hu-HU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400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733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Manual HTTP method checks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+mj-lt"/>
                        </a:rPr>
                        <a:t>: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+mj-lt"/>
                        </a:rPr>
                        <a:t>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if (req.method === 'GET')</a:t>
                      </a:r>
                      <a:endParaRPr lang="en-US" sz="14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73751" marR="73751" marT="36876" marB="368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Method-specific routing (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app.get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,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app.post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, etc.)</a:t>
                      </a:r>
                    </a:p>
                  </a:txBody>
                  <a:tcPr marL="73751" marR="73751" marT="36876" marB="36876" anchor="ctr"/>
                </a:tc>
                <a:extLst>
                  <a:ext uri="{0D108BD9-81ED-4DB2-BD59-A6C34878D82A}">
                    <a16:rowId xmlns:a16="http://schemas.microsoft.com/office/drawing/2014/main" val="2540542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Manual chunk collection using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req.on('data') 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and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req.on('end')</a:t>
                      </a:r>
                      <a:br>
                        <a:rPr lang="hu-HU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</a:br>
                      <a:r>
                        <a:rPr lang="en-US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Manual JSON </a:t>
                      </a:r>
                      <a:r>
                        <a:rPr lang="hu-HU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body </a:t>
                      </a:r>
                      <a:r>
                        <a:rPr lang="en-US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parsing with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JSON.parse(bodyData)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Automatic body parsing via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express.json() 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and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req.body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3118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u-HU" sz="1400">
                          <a:solidFill>
                            <a:schemeClr val="bg1"/>
                          </a:solidFill>
                          <a:latin typeface="+mj-lt"/>
                        </a:rPr>
                        <a:t>Manual Content-Type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Automatic content‑type detection and header setting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1919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Manual route map parsing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+mj-lt"/>
                        </a:rPr>
                        <a:t>, </a:t>
                      </a:r>
                      <a:r>
                        <a:rPr lang="hu-HU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en-US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ustom routing loops over route 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Built-in router with pattern matching</a:t>
                      </a:r>
                      <a:r>
                        <a:rPr lang="hu-HU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+mj-lt"/>
                        </a:rPr>
                        <a:t>d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eclarative routing: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app.get('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/api/todos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',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handler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245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No built‑in dynamic route 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Built‑in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:id 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params →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req.params.id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  <a:br>
                        <a:rPr lang="hu-HU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</a:br>
                      <a:r>
                        <a:rPr lang="hu-HU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app.get('/users/:id', (req, res) =&gt; ...)</a:t>
                      </a:r>
                      <a:endParaRPr lang="en-US" sz="1400" b="1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350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u-HU" sz="1400">
                          <a:solidFill>
                            <a:schemeClr val="bg1"/>
                          </a:solidFill>
                          <a:latin typeface="+mj-lt"/>
                        </a:rPr>
                        <a:t>No modular routing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u-HU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express.Router()</a:t>
                      </a:r>
                      <a:r>
                        <a:rPr lang="hu-HU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instances for modular 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963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Controllers require extra parameters (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body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, 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params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Controllers only need (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req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,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res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) because Express populates everything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703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Manual validation calls inside controllers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u-HU" sz="1400">
                          <a:solidFill>
                            <a:schemeClr val="bg1"/>
                          </a:solidFill>
                          <a:latin typeface="+mj-lt"/>
                        </a:rPr>
                        <a:t>Validation middleware: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hu-HU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router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hu-HU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post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('/', </a:t>
                      </a:r>
                      <a:r>
                        <a:rPr lang="hu-HU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validateTodo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hu-HU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controller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365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u-HU" sz="1400">
                          <a:solidFill>
                            <a:schemeClr val="bg1"/>
                          </a:solidFill>
                          <a:latin typeface="+mj-lt"/>
                        </a:rPr>
                        <a:t>No middleware pipeline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Unified middleware system with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next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994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Manual header setting using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res.writeHead()</a:t>
                      </a:r>
                      <a:r>
                        <a:rPr lang="en-US" sz="14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res.end</a:t>
                      </a:r>
                      <a:r>
                        <a:rPr lang="hu-HU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en-US" sz="1400" b="1">
                        <a:solidFill>
                          <a:schemeClr val="bg1"/>
                        </a:solidFill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High‑level helpers: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res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status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,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res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json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,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res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send</a:t>
                      </a:r>
                      <a:r>
                        <a:rPr lang="en-US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0632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No helper methods for redirects, headers, types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u-HU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res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hu-HU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redirect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+mj-lt"/>
                        </a:rPr>
                        <a:t>,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hu-HU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res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hu-HU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type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+mj-lt"/>
                        </a:rPr>
                        <a:t>,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hu-HU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res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hu-HU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set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4457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No built‑in support for layered architecture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+mj-lt"/>
                        </a:rPr>
                        <a:t>, no native middlware chaining</a:t>
                      </a:r>
                      <a:endParaRPr lang="en-US" sz="140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latin typeface="+mj-lt"/>
                        </a:rPr>
                        <a:t>Natural support for middleware, controllers, routers, services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+mj-lt"/>
                        </a:rPr>
                        <a:t> </a:t>
                      </a:r>
                      <a:r>
                        <a:rPr lang="hu-HU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 </a:t>
                      </a:r>
                      <a:r>
                        <a:rPr lang="hu-HU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app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hu-HU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use</a:t>
                      </a:r>
                      <a:r>
                        <a:rPr lang="hu-HU" sz="14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  <a:endParaRPr lang="en-US" sz="140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6818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u-HU" sz="1400">
                          <a:solidFill>
                            <a:schemeClr val="bg1"/>
                          </a:solidFill>
                          <a:latin typeface="+mj-lt"/>
                        </a:rPr>
                        <a:t>No centralized error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u-HU" sz="1400">
                          <a:solidFill>
                            <a:schemeClr val="bg1"/>
                          </a:solidFill>
                          <a:latin typeface="+mj-lt"/>
                        </a:rPr>
                        <a:t>Global error handler:</a:t>
                      </a:r>
                      <a:r>
                        <a:rPr lang="hu-HU" sz="1400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hu-HU" sz="1400" b="1">
                          <a:solidFill>
                            <a:schemeClr val="bg1"/>
                          </a:solidFill>
                          <a:latin typeface="Consolas" panose="020B0609020204030204" pitchFamily="49" charset="0"/>
                        </a:rPr>
                        <a:t>app.use((err, req, res, next) =&gt; {...})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3172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978563"/>
      </p:ext>
    </p:extLst>
  </p:cSld>
  <p:clrMapOvr>
    <a:masterClrMapping/>
  </p:clrMapOvr>
  <p:transition spd="slow">
    <p:push dir="u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474395-0449-B94C-18FB-A7E42F21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79572353-E701-F596-43F2-46237558111E}"/>
              </a:ext>
            </a:extLst>
          </p:cNvPr>
          <p:cNvSpPr txBox="1"/>
          <p:nvPr/>
        </p:nvSpPr>
        <p:spPr>
          <a:xfrm>
            <a:off x="3614437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SERVER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10A2EF80-061F-B82F-807E-176E9DC2C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354D1F17-8A0C-AEA2-010D-9B5DFC8B0C1D}"/>
              </a:ext>
            </a:extLst>
          </p:cNvPr>
          <p:cNvSpPr txBox="1"/>
          <p:nvPr/>
        </p:nvSpPr>
        <p:spPr>
          <a:xfrm>
            <a:off x="1043663" y="1250039"/>
            <a:ext cx="10771314" cy="5539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espressServer.js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express from 'express';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apiRoutes from './routes/apiRoutes.js';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const app = express();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app.use(express.json());    </a:t>
            </a: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// BUILT-IN JSON PARSER: body, params, query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for (const routeKey in apiRoutes) {               </a:t>
            </a: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// REGISTER API ROUTES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[method, path] = routeKey.split(' ');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handler = apiRoutes[routeKey];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app[method.toLowerCase()](path, (req, res) =&gt; { </a:t>
            </a:r>
            <a:endParaRPr lang="hu-HU" sz="2000">
              <a:solidFill>
                <a:srgbClr val="FFDF20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handler(req, res); </a:t>
            </a: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// UNIFIED HANDLER CALL --&gt; ADJUST ADD AND DELETE!</a:t>
            </a: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app.use(express.static('public'));  </a:t>
            </a: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// BUILT-IN STATIC FILE SERVICE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app.listen(3000, () =&gt;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console.log('Express server running on http://localhost:3000');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841376351"/>
      </p:ext>
    </p:extLst>
  </p:cSld>
  <p:clrMapOvr>
    <a:masterClrMapping/>
  </p:clrMapOvr>
  <p:transition spd="slow">
    <p:push dir="u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0D1B5-668B-9437-FCFB-65B9B7A13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D1607EBE-D460-79E4-0CF2-8CDD7BFA5628}"/>
              </a:ext>
            </a:extLst>
          </p:cNvPr>
          <p:cNvSpPr txBox="1"/>
          <p:nvPr/>
        </p:nvSpPr>
        <p:spPr>
          <a:xfrm>
            <a:off x="3614442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CONTROLLERS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2DA5F08-C7E8-11F2-D2A2-540E245D4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918EE7D8-D5A7-6501-AA0B-85247A99C822}"/>
              </a:ext>
            </a:extLst>
          </p:cNvPr>
          <p:cNvSpPr txBox="1"/>
          <p:nvPr/>
        </p:nvSpPr>
        <p:spPr>
          <a:xfrm>
            <a:off x="2262864" y="1250039"/>
            <a:ext cx="8602360" cy="4612879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addTodoController.js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todoService from '../services/todoService.js';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validateTodo from '../middleware/validateTodo.js';</a:t>
            </a:r>
          </a:p>
          <a:p>
            <a:pPr>
              <a:spcBef>
                <a:spcPts val="600"/>
              </a:spcBef>
            </a:pP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export default function addTodoController(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req, res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if (!validateTodo(req, res,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req.body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)) return;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{ id, title } =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req.body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todo = todoService.addTodo(id, title);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res.status(201).json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(todo);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24378752"/>
      </p:ext>
    </p:extLst>
  </p:cSld>
  <p:clrMapOvr>
    <a:masterClrMapping/>
  </p:clrMapOvr>
  <p:transition spd="slow">
    <p:push dir="u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8499FE-83EE-BBC7-27FE-32245D014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6793B7AB-AA73-B320-6355-8A070950BDC1}"/>
              </a:ext>
            </a:extLst>
          </p:cNvPr>
          <p:cNvSpPr txBox="1"/>
          <p:nvPr/>
        </p:nvSpPr>
        <p:spPr>
          <a:xfrm>
            <a:off x="3614442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CONTROLLERS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D0C96362-49A6-D376-D8B4-586CEBE22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B99CB40E-DCDB-4D5F-E0CB-EE1CA9B445D2}"/>
              </a:ext>
            </a:extLst>
          </p:cNvPr>
          <p:cNvSpPr txBox="1"/>
          <p:nvPr/>
        </p:nvSpPr>
        <p:spPr>
          <a:xfrm>
            <a:off x="2262864" y="1250039"/>
            <a:ext cx="9678124" cy="5539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deleteTodoController.js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todoService from '../services/todoService.js';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validateId from '../middleware/validateId.js';</a:t>
            </a:r>
          </a:p>
          <a:p>
            <a:pPr>
              <a:spcBef>
                <a:spcPts val="600"/>
              </a:spcBef>
            </a:pP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export default function deleteTodoController(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req, res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if (!validateId(req, res,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req.params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)) return;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removed = todoService.deleteTodo(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req.params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.id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if (!removed)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return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res.status(404).json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({ error: "Todo not found" });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res.json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(removed);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2371832"/>
      </p:ext>
    </p:extLst>
  </p:cSld>
  <p:clrMapOvr>
    <a:masterClrMapping/>
  </p:clrMapOvr>
  <p:transition spd="slow">
    <p:push dir="u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CBF70-ED97-A2C0-0F20-68D61F66C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56D9761F-1E99-4B09-7C99-A2FF20B45D95}"/>
              </a:ext>
            </a:extLst>
          </p:cNvPr>
          <p:cNvSpPr txBox="1"/>
          <p:nvPr/>
        </p:nvSpPr>
        <p:spPr>
          <a:xfrm>
            <a:off x="3614442" y="68295"/>
            <a:ext cx="49631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CONTROLLERS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3D2050E-FB0B-6FC0-63DA-0E118EA01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5173CBCD-BEF4-C071-51A1-70E0471F7351}"/>
              </a:ext>
            </a:extLst>
          </p:cNvPr>
          <p:cNvSpPr txBox="1"/>
          <p:nvPr/>
        </p:nvSpPr>
        <p:spPr>
          <a:xfrm>
            <a:off x="2262864" y="1250039"/>
            <a:ext cx="8602360" cy="5539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helloController.js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export default function helloController(req, res)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res.json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({ message: "Hello from the server!" });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8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timeController.js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export default function timeController(req, res) {</a:t>
            </a:r>
          </a:p>
          <a:p>
            <a:pPr>
              <a:spcBef>
                <a:spcPts val="6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res.json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({ time: new Date().toISOString() });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8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getTodosController.js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todoService from '../services/todoService.js';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export default function getTodosController(req, res)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res.json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(todoService.getTodos());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2805764"/>
      </p:ext>
    </p:extLst>
  </p:cSld>
  <p:clrMapOvr>
    <a:masterClrMapping/>
  </p:clrMapOvr>
  <p:transition spd="slow">
    <p:push dir="u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D0933-B18C-ECE5-A749-F50F7A33D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0F0A5082-72D2-21FD-FD7D-07A863A54836}"/>
              </a:ext>
            </a:extLst>
          </p:cNvPr>
          <p:cNvSpPr txBox="1"/>
          <p:nvPr/>
        </p:nvSpPr>
        <p:spPr>
          <a:xfrm>
            <a:off x="3309105" y="68295"/>
            <a:ext cx="55738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ADJUSTING EXPRESS LAYERS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AC5E186-A6B0-04CD-3D99-A933CCE9F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50AD0719-1683-559A-4D8F-5C1A8897E00B}"/>
              </a:ext>
            </a:extLst>
          </p:cNvPr>
          <p:cNvSpPr txBox="1"/>
          <p:nvPr/>
        </p:nvSpPr>
        <p:spPr>
          <a:xfrm>
            <a:off x="1704975" y="1866900"/>
            <a:ext cx="10236013" cy="454342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en-US" sz="2400">
                <a:solidFill>
                  <a:srgbClr val="FFDF20"/>
                </a:solidFill>
                <a:latin typeface="Arial Black" panose="020B0A04020102020204" pitchFamily="34" charset="0"/>
              </a:rPr>
              <a:t>The following changes must be made in a single pass</a:t>
            </a:r>
            <a:r>
              <a:rPr lang="hu-HU" sz="2400">
                <a:solidFill>
                  <a:srgbClr val="FFDF20"/>
                </a:solidFill>
                <a:latin typeface="Arial Black" panose="020B0A04020102020204" pitchFamily="34" charset="0"/>
              </a:rPr>
              <a:t>: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u-HU" sz="2800">
                <a:solidFill>
                  <a:schemeClr val="bg1"/>
                </a:solidFill>
                <a:latin typeface="+mj-lt"/>
              </a:rPr>
              <a:t>Introduction of </a:t>
            </a:r>
            <a:r>
              <a:rPr lang="hu-HU" sz="2800" b="1">
                <a:solidFill>
                  <a:srgbClr val="FFDF20"/>
                </a:solidFill>
                <a:latin typeface="+mj-lt"/>
              </a:rPr>
              <a:t>Routers</a:t>
            </a:r>
            <a:r>
              <a:rPr lang="hu-HU" sz="2800">
                <a:solidFill>
                  <a:schemeClr val="bg1"/>
                </a:solidFill>
                <a:latin typeface="+mj-lt"/>
              </a:rPr>
              <a:t> in the controller layer.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u-HU" sz="2800">
                <a:solidFill>
                  <a:schemeClr val="bg1"/>
                </a:solidFill>
                <a:latin typeface="+mj-lt"/>
              </a:rPr>
              <a:t>Chaining of validation and service calls in the middleware,</a:t>
            </a:r>
            <a:br>
              <a:rPr lang="hu-HU" sz="2800">
                <a:solidFill>
                  <a:schemeClr val="bg1"/>
                </a:solidFill>
                <a:latin typeface="+mj-lt"/>
              </a:rPr>
            </a:br>
            <a:r>
              <a:rPr lang="hu-HU" sz="2800">
                <a:solidFill>
                  <a:schemeClr val="bg1"/>
                </a:solidFill>
                <a:latin typeface="+mj-lt"/>
              </a:rPr>
              <a:t>and remove validation calls from controllers.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u-HU" sz="2800">
                <a:solidFill>
                  <a:schemeClr val="bg1"/>
                </a:solidFill>
                <a:latin typeface="+mj-lt"/>
              </a:rPr>
              <a:t>Add Routers to the Express Server.</a:t>
            </a:r>
          </a:p>
        </p:txBody>
      </p:sp>
    </p:spTree>
    <p:extLst>
      <p:ext uri="{BB962C8B-B14F-4D97-AF65-F5344CB8AC3E}">
        <p14:creationId xmlns:p14="http://schemas.microsoft.com/office/powerpoint/2010/main" val="1662154104"/>
      </p:ext>
    </p:extLst>
  </p:cSld>
  <p:clrMapOvr>
    <a:masterClrMapping/>
  </p:clrMapOvr>
  <p:transition spd="slow">
    <p:push dir="u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38D0A-7399-22D9-2574-9C5AB51F7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7BBD90E2-3704-C232-189C-F510EE6BDF25}"/>
              </a:ext>
            </a:extLst>
          </p:cNvPr>
          <p:cNvSpPr txBox="1"/>
          <p:nvPr/>
        </p:nvSpPr>
        <p:spPr>
          <a:xfrm>
            <a:off x="2048254" y="68295"/>
            <a:ext cx="80955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ROUTE TO SIMPLE CONTROLLERS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6A1433C-3412-0885-8F5C-18E88E818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CCA3C997-7030-802D-E28E-14FA1489556D}"/>
              </a:ext>
            </a:extLst>
          </p:cNvPr>
          <p:cNvSpPr txBox="1"/>
          <p:nvPr/>
        </p:nvSpPr>
        <p:spPr>
          <a:xfrm>
            <a:off x="2262864" y="1250040"/>
            <a:ext cx="9678124" cy="5103136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routes/miscRoutes.js</a:t>
            </a:r>
          </a:p>
          <a:p>
            <a:pPr>
              <a:spcBef>
                <a:spcPts val="12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{ Router } from 'express';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helloController from '../controllers/helloController.js';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timeController from '../controllers/timeController.js';</a:t>
            </a:r>
          </a:p>
          <a:p>
            <a:pPr>
              <a:spcBef>
                <a:spcPts val="600"/>
              </a:spcBef>
            </a:pP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const miscRouter = Router();</a:t>
            </a:r>
          </a:p>
          <a:p>
            <a:pPr>
              <a:spcBef>
                <a:spcPts val="600"/>
              </a:spcBef>
            </a:pP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// METHOD, API URL, API HANDLER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miscRouter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.get('/hello', helloController)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miscRouter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.get('/time', timeController)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600"/>
              </a:spcBef>
            </a:pP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miscRouter;</a:t>
            </a:r>
          </a:p>
        </p:txBody>
      </p:sp>
    </p:spTree>
    <p:extLst>
      <p:ext uri="{BB962C8B-B14F-4D97-AF65-F5344CB8AC3E}">
        <p14:creationId xmlns:p14="http://schemas.microsoft.com/office/powerpoint/2010/main" val="3694557262"/>
      </p:ext>
    </p:extLst>
  </p:cSld>
  <p:clrMapOvr>
    <a:masterClrMapping/>
  </p:clrMapOvr>
  <p:transition spd="slow">
    <p:push dir="u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95D5F-86D8-7C30-D0B3-8803BF6EB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F4001752-E5DD-0F8A-1F04-C6A20D4F7AAD}"/>
              </a:ext>
            </a:extLst>
          </p:cNvPr>
          <p:cNvSpPr txBox="1"/>
          <p:nvPr/>
        </p:nvSpPr>
        <p:spPr>
          <a:xfrm>
            <a:off x="2345647" y="68295"/>
            <a:ext cx="75007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EXPRESS ROUTE THOUGH MIDDLEWARE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E42DADFA-F112-64ED-F209-94CA34FCA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B0652592-56B5-E114-107F-EECCF7BB7FFD}"/>
              </a:ext>
            </a:extLst>
          </p:cNvPr>
          <p:cNvSpPr txBox="1"/>
          <p:nvPr/>
        </p:nvSpPr>
        <p:spPr>
          <a:xfrm>
            <a:off x="209550" y="1088115"/>
            <a:ext cx="11982450" cy="512218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12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routes/todosRoutes.js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{ Router } from 'express';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validateTodo from '../middleware/validateTodo.js';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validateId from '../middleware/validateId.js';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addTodoController from '../controllers/addTodoController.js';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getTodosController from '../controllers/getTodosController.js';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deleteTodoController from '../controllers/deleteTodoController.js';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const todosRouter = Router();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//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CHAINING</a:t>
            </a: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 VALIDATION WITH CONTROLLERS  --&gt; 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REQUIRES next() </a:t>
            </a: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IN VALIDATION</a:t>
            </a:r>
          </a:p>
          <a:p>
            <a:pPr>
              <a:spcBef>
                <a:spcPts val="6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todosRouter.get('/', getTodosController);                    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</a:t>
            </a:r>
            <a:r>
              <a:rPr lang="hu-HU" b="1">
                <a:solidFill>
                  <a:srgbClr val="FFDF20"/>
                </a:solidFill>
                <a:latin typeface="Consolas" panose="020B0609020204030204" pitchFamily="49" charset="0"/>
              </a:rPr>
              <a:t>GET /api/todos</a:t>
            </a:r>
          </a:p>
          <a:p>
            <a:pPr>
              <a:spcBef>
                <a:spcPts val="6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todosRouter.post('/', validateTodo, addTodoController);      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</a:t>
            </a:r>
            <a:r>
              <a:rPr lang="hu-HU" b="1">
                <a:solidFill>
                  <a:srgbClr val="FFDF20"/>
                </a:solidFill>
                <a:latin typeface="Consolas" panose="020B0609020204030204" pitchFamily="49" charset="0"/>
              </a:rPr>
              <a:t>POST /api/todos</a:t>
            </a:r>
          </a:p>
          <a:p>
            <a:pPr>
              <a:spcBef>
                <a:spcPts val="6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todosRouter.delete('/:id', validateId, deleteTodoController);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</a:t>
            </a:r>
            <a:r>
              <a:rPr lang="hu-HU" b="1">
                <a:solidFill>
                  <a:srgbClr val="FFDF20"/>
                </a:solidFill>
                <a:latin typeface="Consolas" panose="020B0609020204030204" pitchFamily="49" charset="0"/>
              </a:rPr>
              <a:t>DELETE /api/todos/:id</a:t>
            </a:r>
            <a:endParaRPr lang="hu-HU" sz="2400" b="1">
              <a:solidFill>
                <a:srgbClr val="FFDF20"/>
              </a:solidFill>
              <a:latin typeface="Consolas" panose="020B0609020204030204" pitchFamily="49" charset="0"/>
            </a:endParaRP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todosRouter;</a:t>
            </a:r>
          </a:p>
        </p:txBody>
      </p:sp>
    </p:spTree>
    <p:extLst>
      <p:ext uri="{BB962C8B-B14F-4D97-AF65-F5344CB8AC3E}">
        <p14:creationId xmlns:p14="http://schemas.microsoft.com/office/powerpoint/2010/main" val="1065446147"/>
      </p:ext>
    </p:extLst>
  </p:cSld>
  <p:clrMapOvr>
    <a:masterClrMapping/>
  </p:clrMapOvr>
  <p:transition spd="slow">
    <p:push dir="u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C2ECFE-7CD8-0A70-09E6-F066E502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7E7A5A95-4A1B-C628-729A-ADDF8A374EEC}"/>
              </a:ext>
            </a:extLst>
          </p:cNvPr>
          <p:cNvSpPr txBox="1"/>
          <p:nvPr/>
        </p:nvSpPr>
        <p:spPr>
          <a:xfrm>
            <a:off x="2059967" y="68295"/>
            <a:ext cx="80721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CHAINING REQUIRES NEXT() IN VALIDATION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11748F68-6B1A-2EBB-22D2-A1A2D3680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682901FD-66A4-E253-1DDA-C15D1A136272}"/>
              </a:ext>
            </a:extLst>
          </p:cNvPr>
          <p:cNvSpPr txBox="1"/>
          <p:nvPr/>
        </p:nvSpPr>
        <p:spPr>
          <a:xfrm>
            <a:off x="1043662" y="1383390"/>
            <a:ext cx="11148337" cy="547461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middleware/validateTodo.js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export default function validateTodo(req, res,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next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if (!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req.body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|| typeof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req.body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!== 'object')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return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res.status(400).json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({ error: "Request body must be JSON" });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{ id, title } =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req.body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if (!id || !title) {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return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res.status(400).json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({ error: "Both id and title are required" });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next();</a:t>
            </a: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validation passed --&gt; calling the next step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// + REMOVE VALIDATION FROM addTodoController !!!</a:t>
            </a:r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162E2E40-AD13-5F6B-F1E9-34204CDDBE78}"/>
              </a:ext>
            </a:extLst>
          </p:cNvPr>
          <p:cNvSpPr/>
          <p:nvPr/>
        </p:nvSpPr>
        <p:spPr>
          <a:xfrm>
            <a:off x="942975" y="6263589"/>
            <a:ext cx="7212484" cy="55083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09725807"/>
      </p:ext>
    </p:extLst>
  </p:cSld>
  <p:clrMapOvr>
    <a:masterClrMapping/>
  </p:clrMapOvr>
  <p:transition spd="slow">
    <p:push dir="u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5D1D4-AF40-3C6D-188E-22DA0A0F3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E722295A-DA4F-CE5E-3109-1F9663CCEFB0}"/>
              </a:ext>
            </a:extLst>
          </p:cNvPr>
          <p:cNvSpPr txBox="1"/>
          <p:nvPr/>
        </p:nvSpPr>
        <p:spPr>
          <a:xfrm>
            <a:off x="2059967" y="68295"/>
            <a:ext cx="80721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CHAINING REQUIRES NEXT() IN VALIDATION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D2E84EB0-6F72-5B3E-8756-D038CEF41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19DAA36F-0EB1-7F62-DCD1-F46EC8119DF4}"/>
              </a:ext>
            </a:extLst>
          </p:cNvPr>
          <p:cNvSpPr txBox="1"/>
          <p:nvPr/>
        </p:nvSpPr>
        <p:spPr>
          <a:xfrm>
            <a:off x="2059966" y="1383391"/>
            <a:ext cx="10132033" cy="343626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middleware/validateId.js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export default function validateId(req, res,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next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if (!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req.params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|| !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req.params.id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return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res.status(400).json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({ error: "Missing id parameter" });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next();</a:t>
            </a:r>
            <a:r>
              <a:rPr lang="hu-HU" sz="2000">
                <a:solidFill>
                  <a:srgbClr val="FFDF20"/>
                </a:solidFill>
                <a:latin typeface="Consolas" panose="020B0609020204030204" pitchFamily="49" charset="0"/>
              </a:rPr>
              <a:t>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validation passed --&gt; calling the next step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600"/>
              </a:spcBef>
            </a:pP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6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// + REMOVE VALIDATION FROM deleteTodoController !!!</a:t>
            </a:r>
          </a:p>
          <a:p>
            <a:pPr>
              <a:spcBef>
                <a:spcPts val="600"/>
              </a:spcBef>
            </a:pP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églalap: lekerekített 2">
            <a:extLst>
              <a:ext uri="{FF2B5EF4-FFF2-40B4-BE49-F238E27FC236}">
                <a16:creationId xmlns:a16="http://schemas.microsoft.com/office/drawing/2014/main" id="{5B97F6C4-1AE7-ECC3-A63E-492EF8F6B8F0}"/>
              </a:ext>
            </a:extLst>
          </p:cNvPr>
          <p:cNvSpPr/>
          <p:nvPr/>
        </p:nvSpPr>
        <p:spPr>
          <a:xfrm>
            <a:off x="1968585" y="4385362"/>
            <a:ext cx="7595545" cy="55083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4326622"/>
      </p:ext>
    </p:extLst>
  </p:cSld>
  <p:clrMapOvr>
    <a:masterClrMapping/>
  </p:clrMapOvr>
  <p:transition spd="slow">
    <p:push dir="u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3D50D-8FB6-8ECB-DED8-8FF05864F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E3167D9B-0D9C-E3F2-FD14-2D1CC622B116}"/>
              </a:ext>
            </a:extLst>
          </p:cNvPr>
          <p:cNvSpPr txBox="1"/>
          <p:nvPr/>
        </p:nvSpPr>
        <p:spPr>
          <a:xfrm>
            <a:off x="2720384" y="68295"/>
            <a:ext cx="67513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ADD ROUTERS TO EXPRESS SERVER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3942D2E-B57B-86C6-ADD5-378F37AE9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14D5285D-6E6D-92D5-6CBD-4F5BEC3B87DA}"/>
              </a:ext>
            </a:extLst>
          </p:cNvPr>
          <p:cNvSpPr txBox="1"/>
          <p:nvPr/>
        </p:nvSpPr>
        <p:spPr>
          <a:xfrm>
            <a:off x="2720384" y="1154790"/>
            <a:ext cx="9471616" cy="55777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expressServer.js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express from 'express';</a:t>
            </a:r>
          </a:p>
          <a:p>
            <a:pPr>
              <a:spcBef>
                <a:spcPts val="3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import todosRouter from './routes/todosRoutes.js';</a:t>
            </a:r>
          </a:p>
          <a:p>
            <a:pPr>
              <a:spcBef>
                <a:spcPts val="3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import miscRouter from './routes/miscRoutes.js';</a:t>
            </a:r>
          </a:p>
          <a:p>
            <a:pPr>
              <a:spcBef>
                <a:spcPts val="300"/>
              </a:spcBef>
            </a:pP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3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const app = express();</a:t>
            </a:r>
          </a:p>
          <a:p>
            <a:pPr>
              <a:spcBef>
                <a:spcPts val="3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app.use(express.json());</a:t>
            </a:r>
          </a:p>
          <a:p>
            <a:pPr>
              <a:spcBef>
                <a:spcPts val="300"/>
              </a:spcBef>
            </a:pP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3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app.use('/api', miscRouter);       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/api/hello, /api/time</a:t>
            </a:r>
          </a:p>
          <a:p>
            <a:pPr>
              <a:spcBef>
                <a:spcPts val="3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app.use('/api/todos', todosRouter);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/api/todos, /api/todos/:id</a:t>
            </a:r>
          </a:p>
          <a:p>
            <a:pPr>
              <a:spcBef>
                <a:spcPts val="300"/>
              </a:spcBef>
            </a:pP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3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app.use(express.static('public'));</a:t>
            </a:r>
          </a:p>
          <a:p>
            <a:pPr>
              <a:spcBef>
                <a:spcPts val="300"/>
              </a:spcBef>
            </a:pPr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spcBef>
                <a:spcPts val="3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app.listen(3000, () =&gt; {</a:t>
            </a:r>
          </a:p>
          <a:p>
            <a:pPr>
              <a:spcBef>
                <a:spcPts val="3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console.log('Express server running on http://localhost:3000');</a:t>
            </a:r>
          </a:p>
          <a:p>
            <a:pPr>
              <a:spcBef>
                <a:spcPts val="3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473768691"/>
      </p:ext>
    </p:extLst>
  </p:cSld>
  <p:clrMapOvr>
    <a:masterClrMapping/>
  </p:clrMapOvr>
  <p:transition spd="slow">
    <p:push dir="u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6B7E1F-3A0B-F34D-1321-0EDACE859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EF566BC7-A924-EA38-FC0B-73DF626D984E}"/>
              </a:ext>
            </a:extLst>
          </p:cNvPr>
          <p:cNvSpPr txBox="1"/>
          <p:nvPr/>
        </p:nvSpPr>
        <p:spPr>
          <a:xfrm>
            <a:off x="3309105" y="68295"/>
            <a:ext cx="55738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ADJUSTING EXPRESS LAYERS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B6DBD91-B7E4-4EAB-2CF5-8CB977730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AA9F7213-6DEA-B986-D2F3-4F7EDC8FE666}"/>
              </a:ext>
            </a:extLst>
          </p:cNvPr>
          <p:cNvSpPr txBox="1"/>
          <p:nvPr/>
        </p:nvSpPr>
        <p:spPr>
          <a:xfrm>
            <a:off x="1704975" y="1866900"/>
            <a:ext cx="10236013" cy="253210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en-US" sz="2400">
                <a:solidFill>
                  <a:srgbClr val="FFDF20"/>
                </a:solidFill>
                <a:latin typeface="Arial Black" panose="020B0A04020102020204" pitchFamily="34" charset="0"/>
              </a:rPr>
              <a:t>The following changes must be made in a single pass</a:t>
            </a:r>
            <a:r>
              <a:rPr lang="hu-HU" sz="2400">
                <a:solidFill>
                  <a:srgbClr val="FFDF20"/>
                </a:solidFill>
                <a:latin typeface="Arial Black" panose="020B0A04020102020204" pitchFamily="34" charset="0"/>
              </a:rPr>
              <a:t>: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u-HU" sz="2800">
                <a:solidFill>
                  <a:schemeClr val="bg1"/>
                </a:solidFill>
                <a:latin typeface="+mj-lt"/>
              </a:rPr>
              <a:t>Turning the service calls asynchronous.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u-HU" sz="2800">
                <a:solidFill>
                  <a:schemeClr val="bg1"/>
                </a:solidFill>
                <a:latin typeface="+mj-lt"/>
              </a:rPr>
              <a:t>Adjust controllers to asynchronous service calls and chained middleware pipeline.</a:t>
            </a:r>
          </a:p>
        </p:txBody>
      </p:sp>
    </p:spTree>
    <p:extLst>
      <p:ext uri="{BB962C8B-B14F-4D97-AF65-F5344CB8AC3E}">
        <p14:creationId xmlns:p14="http://schemas.microsoft.com/office/powerpoint/2010/main" val="325526007"/>
      </p:ext>
    </p:extLst>
  </p:cSld>
  <p:clrMapOvr>
    <a:masterClrMapping/>
  </p:clrMapOvr>
  <p:transition spd="slow">
    <p:push dir="u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03BA03-DDE6-9B9B-C64D-BB3B4DCA8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F400726D-3511-BC15-6C9E-A407D503BECA}"/>
              </a:ext>
            </a:extLst>
          </p:cNvPr>
          <p:cNvSpPr txBox="1"/>
          <p:nvPr/>
        </p:nvSpPr>
        <p:spPr>
          <a:xfrm>
            <a:off x="1399599" y="68295"/>
            <a:ext cx="93928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TURN SERVICE LAYER FUNCTION ASYNCHRONOUS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834C2EDA-63E1-37B7-1099-C1FBA21E1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179FF9AF-F3FF-E9E4-5614-DEC3AA7DE693}"/>
              </a:ext>
            </a:extLst>
          </p:cNvPr>
          <p:cNvSpPr txBox="1"/>
          <p:nvPr/>
        </p:nvSpPr>
        <p:spPr>
          <a:xfrm>
            <a:off x="2190750" y="1383390"/>
            <a:ext cx="10001249" cy="527458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services/todoService.js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todos from '../data/todos.js';</a:t>
            </a:r>
          </a:p>
          <a:p>
            <a:pPr>
              <a:spcBef>
                <a:spcPts val="12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async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function addTodo(id, title)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todos.push({ id, title });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return todo;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2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async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function getTodos() { return todos; }</a:t>
            </a:r>
          </a:p>
          <a:p>
            <a:pPr>
              <a:spcBef>
                <a:spcPts val="12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async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function deleteTodo(id)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index = todos.findIndex(t =&gt; t.id === id);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if (index === -1) return null;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removed = todos.splice(index, 1)[0];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return removed;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1200"/>
              </a:spcBef>
            </a:pP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export default { addTodo, getTodos, deleteTodo };</a:t>
            </a:r>
          </a:p>
        </p:txBody>
      </p:sp>
    </p:spTree>
    <p:extLst>
      <p:ext uri="{BB962C8B-B14F-4D97-AF65-F5344CB8AC3E}">
        <p14:creationId xmlns:p14="http://schemas.microsoft.com/office/powerpoint/2010/main" val="3724352566"/>
      </p:ext>
    </p:extLst>
  </p:cSld>
  <p:clrMapOvr>
    <a:masterClrMapping/>
  </p:clrMapOvr>
  <p:transition spd="slow">
    <p:push dir="u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52AB5-EA21-B0F5-DEEC-2F7277683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C44090DA-BF80-1768-0BE1-3A0EF3C577D8}"/>
              </a:ext>
            </a:extLst>
          </p:cNvPr>
          <p:cNvSpPr txBox="1"/>
          <p:nvPr/>
        </p:nvSpPr>
        <p:spPr>
          <a:xfrm>
            <a:off x="1916477" y="68295"/>
            <a:ext cx="835914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ADJUST CONTROLLERS TO ASYNC SERVICES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2AD29C8-E922-2251-7257-4DE587ACC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4EB9E1CA-8726-1F8B-CB55-01595A442032}"/>
              </a:ext>
            </a:extLst>
          </p:cNvPr>
          <p:cNvSpPr txBox="1"/>
          <p:nvPr/>
        </p:nvSpPr>
        <p:spPr>
          <a:xfrm>
            <a:off x="1916476" y="1211940"/>
            <a:ext cx="10275523" cy="55777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pPr>
              <a:spcBef>
                <a:spcPts val="600"/>
              </a:spcBef>
            </a:pP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addTodoController.js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todoService from '../services/todoService.js';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export default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async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function addTodoController(req, res)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{ id, title } = req.body;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todo =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await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todoService.addTodo(id, title);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res.status(201).json(todo);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  <a:p>
            <a:endParaRPr lang="hu-HU" sz="200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getTodosController.js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todoService from '../services/todoService.js';</a:t>
            </a:r>
          </a:p>
          <a:p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export default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async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function getTodosController(req, res)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res.json(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await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todoService.getTodos());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32466392"/>
      </p:ext>
    </p:extLst>
  </p:cSld>
  <p:clrMapOvr>
    <a:masterClrMapping/>
  </p:clrMapOvr>
  <p:transition spd="slow">
    <p:push dir="u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233FF-7196-0EA0-7C11-79F69AF4D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zövegdoboz 4">
            <a:extLst>
              <a:ext uri="{FF2B5EF4-FFF2-40B4-BE49-F238E27FC236}">
                <a16:creationId xmlns:a16="http://schemas.microsoft.com/office/drawing/2014/main" id="{CE7FF9BA-9572-364A-8A40-24955E95F1D9}"/>
              </a:ext>
            </a:extLst>
          </p:cNvPr>
          <p:cNvSpPr txBox="1"/>
          <p:nvPr/>
        </p:nvSpPr>
        <p:spPr>
          <a:xfrm>
            <a:off x="1916477" y="68295"/>
            <a:ext cx="835914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BACKEND ARCHITECTURE</a:t>
            </a:r>
          </a:p>
          <a:p>
            <a:pPr algn="ctr"/>
            <a:r>
              <a:rPr lang="hu-HU" sz="2800">
                <a:solidFill>
                  <a:schemeClr val="bg1"/>
                </a:solidFill>
                <a:effectLst>
                  <a:glow rad="139700">
                    <a:schemeClr val="accent4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ADJUST CONTROLLERS TO ASYNC SERVICES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F4E976C-BDBF-93D6-D981-DE777B49B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" y="68295"/>
            <a:ext cx="976504" cy="919063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69388A36-ABA1-C7C1-BD65-187B3A7D9054}"/>
              </a:ext>
            </a:extLst>
          </p:cNvPr>
          <p:cNvSpPr txBox="1"/>
          <p:nvPr/>
        </p:nvSpPr>
        <p:spPr>
          <a:xfrm>
            <a:off x="1916478" y="1211940"/>
            <a:ext cx="10275522" cy="55777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noAutofit/>
          </a:bodyPr>
          <a:lstStyle/>
          <a:p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// deleteTodoController.js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import todoService from '../services/todoService.js';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export default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async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function deleteTodoController(req, res)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const removed = </a:t>
            </a:r>
            <a:r>
              <a:rPr lang="hu-HU" sz="2000" b="1">
                <a:solidFill>
                  <a:srgbClr val="FFDF20"/>
                </a:solidFill>
                <a:latin typeface="Consolas" panose="020B0609020204030204" pitchFamily="49" charset="0"/>
              </a:rPr>
              <a:t>await</a:t>
            </a:r>
            <a:r>
              <a:rPr lang="hu-HU" sz="2000" b="1">
                <a:solidFill>
                  <a:schemeClr val="bg1"/>
                </a:solidFill>
                <a:latin typeface="Consolas" panose="020B0609020204030204" pitchFamily="49" charset="0"/>
              </a:rPr>
              <a:t> todoService.deleteTodo(req.params.id)</a:t>
            </a: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if (!removed) {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  return res.status(404).json({ error: "Todo not found" });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}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  res.json(removed);</a:t>
            </a:r>
          </a:p>
          <a:p>
            <a:pPr>
              <a:spcBef>
                <a:spcPts val="600"/>
              </a:spcBef>
            </a:pPr>
            <a:r>
              <a:rPr lang="hu-HU" sz="200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415455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716E66052CFB43AE65486286B1CCC5" ma:contentTypeVersion="3" ma:contentTypeDescription="Create a new document." ma:contentTypeScope="" ma:versionID="a10adb678f054a390b79b21199acb546">
  <xsd:schema xmlns:xsd="http://www.w3.org/2001/XMLSchema" xmlns:xs="http://www.w3.org/2001/XMLSchema" xmlns:p="http://schemas.microsoft.com/office/2006/metadata/properties" xmlns:ns2="12ba6e24-9ed1-46dc-be4e-b5f433cd5815" targetNamespace="http://schemas.microsoft.com/office/2006/metadata/properties" ma:root="true" ma:fieldsID="a3e8f1e180f117574dd3102f8a41f8a1" ns2:_="">
    <xsd:import namespace="12ba6e24-9ed1-46dc-be4e-b5f433cd58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ba6e24-9ed1-46dc-be4e-b5f433cd58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73E69E0-9943-4C12-BB60-8E959ECEFC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ba6e24-9ed1-46dc-be4e-b5f433cd58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579C9F6-AE46-4195-B63B-1492D7DF79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1F23EA-E87D-48BA-AA58-1A99BF651E5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7123</TotalTime>
  <Words>9417</Words>
  <Application>Microsoft Office PowerPoint</Application>
  <PresentationFormat>Widescreen</PresentationFormat>
  <Paragraphs>1249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2" baseType="lpstr">
      <vt:lpstr>Aptos</vt:lpstr>
      <vt:lpstr>Aptos Display</vt:lpstr>
      <vt:lpstr>Arial</vt:lpstr>
      <vt:lpstr>Arial Black</vt:lpstr>
      <vt:lpstr>Arial Rounded MT Bold</vt:lpstr>
      <vt:lpstr>Consolas</vt:lpstr>
      <vt:lpstr>Office-téma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Gao Yunpeng</cp:lastModifiedBy>
  <cp:revision>403</cp:revision>
  <dcterms:created xsi:type="dcterms:W3CDTF">2025-12-21T18:21:50Z</dcterms:created>
  <dcterms:modified xsi:type="dcterms:W3CDTF">2026-04-23T16:28:10Z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0x01010086716E66052CFB43AE65486286B1CCC5</vt:lpwstr>
  </property>
</Properties>
</file>